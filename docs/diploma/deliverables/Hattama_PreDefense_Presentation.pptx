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01c3717d2641a5" /><Relationship Type="http://schemas.openxmlformats.org/officeDocument/2006/relationships/extended-properties" Target="/docProps/app.xml" Id="R2706954a41a14dbb" /><Relationship Type="http://schemas.openxmlformats.org/officeDocument/2006/relationships/officeDocument" Target="/ppt/presentation.xml" Id="R0a0500f1fe26401e" /></Relationships>
</file>

<file path=ppt/presentation.xml><?xml version="1.0" encoding="utf-8"?>
<p:presentation xmlns:p="http://schemas.openxmlformats.org/presentationml/2006/main">
  <p:sldMasterIdLst>
    <p:sldMasterId xmlns:r="http://schemas.openxmlformats.org/officeDocument/2006/relationships" id="2147483648" r:id="Rdcfb096bb3e740a1"/>
  </p:sldMasterIdLst>
  <p:notesMasterIdLst>
    <p:notesMasterId xmlns:r="http://schemas.openxmlformats.org/officeDocument/2006/relationships" r:id="Rab8133414aa24c99"/>
  </p:notesMasterIdLst>
  <p:sldIdLst>
    <p:sldId xmlns:r="http://schemas.openxmlformats.org/officeDocument/2006/relationships" id="256" r:id="R9ea078c337cd4106"/>
    <p:sldId xmlns:r="http://schemas.openxmlformats.org/officeDocument/2006/relationships" id="257" r:id="R1d0e2542b5d74140"/>
    <p:sldId xmlns:r="http://schemas.openxmlformats.org/officeDocument/2006/relationships" id="258" r:id="Rc70a8daeaf894a86"/>
    <p:sldId xmlns:r="http://schemas.openxmlformats.org/officeDocument/2006/relationships" id="259" r:id="R5f500fdd61af4bd5"/>
    <p:sldId xmlns:r="http://schemas.openxmlformats.org/officeDocument/2006/relationships" id="260" r:id="R995f90c500c541b5"/>
    <p:sldId xmlns:r="http://schemas.openxmlformats.org/officeDocument/2006/relationships" id="261" r:id="R5d56ef14bdb94d50"/>
    <p:sldId xmlns:r="http://schemas.openxmlformats.org/officeDocument/2006/relationships" id="262" r:id="R74a88116d02e4880"/>
    <p:sldId xmlns:r="http://schemas.openxmlformats.org/officeDocument/2006/relationships" id="263" r:id="R1d7200e916824af8"/>
    <p:sldId xmlns:r="http://schemas.openxmlformats.org/officeDocument/2006/relationships" id="264" r:id="Rdc01f94023e94fd1"/>
    <p:sldId xmlns:r="http://schemas.openxmlformats.org/officeDocument/2006/relationships" id="265" r:id="Rae6da42af8b74b94"/>
    <p:sldId xmlns:r="http://schemas.openxmlformats.org/officeDocument/2006/relationships" id="266" r:id="R51fc46c2bb174d41"/>
    <p:sldId xmlns:r="http://schemas.openxmlformats.org/officeDocument/2006/relationships" id="267" r:id="Rd1aa8fe46b194335"/>
    <p:sldId xmlns:r="http://schemas.openxmlformats.org/officeDocument/2006/relationships" id="268" r:id="R5c823667e9484db5"/>
    <p:sldId xmlns:r="http://schemas.openxmlformats.org/officeDocument/2006/relationships" id="269" r:id="R717c82d839ce4834"/>
    <p:sldId xmlns:r="http://schemas.openxmlformats.org/officeDocument/2006/relationships" id="270" r:id="Rcae8dca67cbc404a"/>
    <p:sldId xmlns:r="http://schemas.openxmlformats.org/officeDocument/2006/relationships" id="271" r:id="Racab2d86f8f6495f"/>
    <p:sldId xmlns:r="http://schemas.openxmlformats.org/officeDocument/2006/relationships" id="272" r:id="R7b353073c29b4aa9"/>
    <p:sldId xmlns:r="http://schemas.openxmlformats.org/officeDocument/2006/relationships" id="273" r:id="R62f69ae0bf734b98"/>
    <p:sldId xmlns:r="http://schemas.openxmlformats.org/officeDocument/2006/relationships" id="274" r:id="R34b7ceb6ed5f4170"/>
    <p:sldId xmlns:r="http://schemas.openxmlformats.org/officeDocument/2006/relationships" id="275" r:id="R44c7ad4743574554"/>
    <p:sldId xmlns:r="http://schemas.openxmlformats.org/officeDocument/2006/relationships" id="276" r:id="R6af5461ddaff437a"/>
    <p:sldId xmlns:r="http://schemas.openxmlformats.org/officeDocument/2006/relationships" id="277" r:id="Rc278e67886c84c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7a7c3db2fe4367" /><Relationship Type="http://schemas.openxmlformats.org/officeDocument/2006/relationships/slideMaster" Target="/ppt/slideMasters/slideMaster1.xml" Id="Rdcfb096bb3e740a1" /><Relationship Type="http://schemas.openxmlformats.org/officeDocument/2006/relationships/notesMaster" Target="/ppt/notesMasters/notesMaster1.xml" Id="Rab8133414aa24c99" /><Relationship Type="http://schemas.openxmlformats.org/officeDocument/2006/relationships/presProps" Target="/ppt/presProps.xml" Id="Rfea08b6f20694df5" /><Relationship Type="http://schemas.openxmlformats.org/officeDocument/2006/relationships/tableStyles" Target="/ppt/tableStyles.xml" Id="Rd2dfe4e5813d47c2" /><Relationship Type="http://schemas.openxmlformats.org/officeDocument/2006/relationships/slide" Target="/ppt/slides/slide1.xml" Id="R9ea078c337cd4106" /><Relationship Type="http://schemas.openxmlformats.org/officeDocument/2006/relationships/slide" Target="/ppt/slides/slide2.xml" Id="R1d0e2542b5d74140" /><Relationship Type="http://schemas.openxmlformats.org/officeDocument/2006/relationships/slide" Target="/ppt/slides/slide3.xml" Id="Rc70a8daeaf894a86" /><Relationship Type="http://schemas.openxmlformats.org/officeDocument/2006/relationships/slide" Target="/ppt/slides/slide4.xml" Id="R5f500fdd61af4bd5" /><Relationship Type="http://schemas.openxmlformats.org/officeDocument/2006/relationships/slide" Target="/ppt/slides/slide5.xml" Id="R995f90c500c541b5" /><Relationship Type="http://schemas.openxmlformats.org/officeDocument/2006/relationships/slide" Target="/ppt/slides/slide6.xml" Id="R5d56ef14bdb94d50" /><Relationship Type="http://schemas.openxmlformats.org/officeDocument/2006/relationships/slide" Target="/ppt/slides/slide7.xml" Id="R74a88116d02e4880" /><Relationship Type="http://schemas.openxmlformats.org/officeDocument/2006/relationships/slide" Target="/ppt/slides/slide8.xml" Id="R1d7200e916824af8" /><Relationship Type="http://schemas.openxmlformats.org/officeDocument/2006/relationships/slide" Target="/ppt/slides/slide9.xml" Id="Rdc01f94023e94fd1" /><Relationship Type="http://schemas.openxmlformats.org/officeDocument/2006/relationships/slide" Target="/ppt/slides/slide10.xml" Id="Rae6da42af8b74b94" /><Relationship Type="http://schemas.openxmlformats.org/officeDocument/2006/relationships/slide" Target="/ppt/slides/slide11.xml" Id="R51fc46c2bb174d41" /><Relationship Type="http://schemas.openxmlformats.org/officeDocument/2006/relationships/slide" Target="/ppt/slides/slide12.xml" Id="Rd1aa8fe46b194335" /><Relationship Type="http://schemas.openxmlformats.org/officeDocument/2006/relationships/slide" Target="/ppt/slides/slide13.xml" Id="R5c823667e9484db5" /><Relationship Type="http://schemas.openxmlformats.org/officeDocument/2006/relationships/slide" Target="/ppt/slides/slide14.xml" Id="R717c82d839ce4834" /><Relationship Type="http://schemas.openxmlformats.org/officeDocument/2006/relationships/slide" Target="/ppt/slides/slide15.xml" Id="Rcae8dca67cbc404a" /><Relationship Type="http://schemas.openxmlformats.org/officeDocument/2006/relationships/slide" Target="/ppt/slides/slide16.xml" Id="Racab2d86f8f6495f" /><Relationship Type="http://schemas.openxmlformats.org/officeDocument/2006/relationships/slide" Target="/ppt/slides/slide17.xml" Id="R7b353073c29b4aa9" /><Relationship Type="http://schemas.openxmlformats.org/officeDocument/2006/relationships/slide" Target="/ppt/slides/slide18.xml" Id="R62f69ae0bf734b98" /><Relationship Type="http://schemas.openxmlformats.org/officeDocument/2006/relationships/slide" Target="/ppt/slides/slide19.xml" Id="R34b7ceb6ed5f4170" /><Relationship Type="http://schemas.openxmlformats.org/officeDocument/2006/relationships/slide" Target="/ppt/slides/slide20.xml" Id="R44c7ad4743574554" /><Relationship Type="http://schemas.openxmlformats.org/officeDocument/2006/relationships/slide" Target="/ppt/slides/slide21.xml" Id="R6af5461ddaff437a" /><Relationship Type="http://schemas.openxmlformats.org/officeDocument/2006/relationships/slide" Target="/ppt/slides/slide22.xml" Id="Rc278e67886c84c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f2dbdfc4c54c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374e34ae924d52" /><Relationship Type="http://schemas.openxmlformats.org/officeDocument/2006/relationships/notesMaster" Target="/ppt/notesMasters/notesMaster1.xml" Id="Ra106a351f10d4f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8e2305d43b4ba0" /><Relationship Type="http://schemas.openxmlformats.org/officeDocument/2006/relationships/notesMaster" Target="/ppt/notesMasters/notesMaster1.xml" Id="Rffe1a09c89744c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d81cb64f964802" /><Relationship Type="http://schemas.openxmlformats.org/officeDocument/2006/relationships/notesMaster" Target="/ppt/notesMasters/notesMaster1.xml" Id="R94680256f71f49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d56f425b2946dc" /><Relationship Type="http://schemas.openxmlformats.org/officeDocument/2006/relationships/notesMaster" Target="/ppt/notesMasters/notesMaster1.xml" Id="R6875470235bb45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6706c19aa24b3b" /><Relationship Type="http://schemas.openxmlformats.org/officeDocument/2006/relationships/notesMaster" Target="/ppt/notesMasters/notesMaster1.xml" Id="R741f40a43cf044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01f02e3cd04f74" /><Relationship Type="http://schemas.openxmlformats.org/officeDocument/2006/relationships/notesMaster" Target="/ppt/notesMasters/notesMaster1.xml" Id="Rc03cffaf450b40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2230ac5c8540a2" /><Relationship Type="http://schemas.openxmlformats.org/officeDocument/2006/relationships/notesMaster" Target="/ppt/notesMasters/notesMaster1.xml" Id="Rd1ff6f65847440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b790f965434e96" /><Relationship Type="http://schemas.openxmlformats.org/officeDocument/2006/relationships/notesMaster" Target="/ppt/notesMasters/notesMaster1.xml" Id="R61c7d0afc32246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2fb6868c5a4007" /><Relationship Type="http://schemas.openxmlformats.org/officeDocument/2006/relationships/notesMaster" Target="/ppt/notesMasters/notesMaster1.xml" Id="R2d40af40df8548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397148826b45d8" /><Relationship Type="http://schemas.openxmlformats.org/officeDocument/2006/relationships/notesMaster" Target="/ppt/notesMasters/notesMaster1.xml" Id="Rc15a8debdb1340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e9ceecc35c4388" /><Relationship Type="http://schemas.openxmlformats.org/officeDocument/2006/relationships/notesMaster" Target="/ppt/notesMasters/notesMaster1.xml" Id="R80c70eb7738843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a6adcbe8724160" /><Relationship Type="http://schemas.openxmlformats.org/officeDocument/2006/relationships/notesMaster" Target="/ppt/notesMasters/notesMaster1.xml" Id="R26498f0be5c54d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a683513d814ded" /><Relationship Type="http://schemas.openxmlformats.org/officeDocument/2006/relationships/notesMaster" Target="/ppt/notesMasters/notesMaster1.xml" Id="Rf14f864d1aac44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6780c3212540c5" /><Relationship Type="http://schemas.openxmlformats.org/officeDocument/2006/relationships/notesMaster" Target="/ppt/notesMasters/notesMaster1.xml" Id="R384de6341a6d43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ffab517f254883" /><Relationship Type="http://schemas.openxmlformats.org/officeDocument/2006/relationships/notesMaster" Target="/ppt/notesMasters/notesMaster1.xml" Id="Ra1fd4d61559c4f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93ccb4e2c24f86" /><Relationship Type="http://schemas.openxmlformats.org/officeDocument/2006/relationships/notesMaster" Target="/ppt/notesMasters/notesMaster1.xml" Id="R9461652253f449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794163a83048c3" /><Relationship Type="http://schemas.openxmlformats.org/officeDocument/2006/relationships/notesMaster" Target="/ppt/notesMasters/notesMaster1.xml" Id="R57e9a8b5a70c47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8125b6acc34d5a" /><Relationship Type="http://schemas.openxmlformats.org/officeDocument/2006/relationships/notesMaster" Target="/ppt/notesMasters/notesMaster1.xml" Id="Ra4eeee0b0ca94d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f31a2cfbd54047" /><Relationship Type="http://schemas.openxmlformats.org/officeDocument/2006/relationships/notesMaster" Target="/ppt/notesMasters/notesMaster1.xml" Id="Ra62a7ad4d69941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931cfed43f4e2b" /><Relationship Type="http://schemas.openxmlformats.org/officeDocument/2006/relationships/notesMaster" Target="/ppt/notesMasters/notesMaster1.xml" Id="R3d91bbbfe0964ac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675089cae744261" /><Relationship Type="http://schemas.openxmlformats.org/officeDocument/2006/relationships/notesMaster" Target="/ppt/notesMasters/notesMaster1.xml" Id="Rff3e86f9a8e14f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7975a33678747a7" /><Relationship Type="http://schemas.openxmlformats.org/officeDocument/2006/relationships/notesMaster" Target="/ppt/notesMasters/notesMaster1.xml" Id="R86432e3125a64e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existing presentation aligned with the implemented hackathon baseline at 13d2271. Local neural processing and uploaded-audio review are implemented; live meeting capture is future work.</a:t>
            </a:r>
          </a:p>
          <a:p xmlns:a="http://schemas.openxmlformats.org/drawingml/2006/main">
            <a:r>
              <a:t/>
            </a:r>
          </a:p>
          <a:p xmlns:a="http://schemas.openxmlformats.org/drawingml/2006/main">
            <a:r>
              <a:t>Sources accessed 23 October 2026:</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Secondary research motivates source review and language-specific evaluation. No new local interview results or quantified time savings are claimed. Competing services already provide transcription and summaries.</a:t>
            </a:r>
          </a:p>
          <a:p xmlns:a="http://schemas.openxmlformats.org/drawingml/2006/main">
            <a:r>
              <a:t/>
            </a:r>
          </a:p>
          <a:p xmlns:a="http://schemas.openxmlformats.org/drawingml/2006/main">
            <a:r>
              <a:t>Sources accessed 23 October 2026:</a:t>
            </a:r>
          </a:p>
          <a:p xmlns:a="http://schemas.openxmlformats.org/drawingml/2006/main">
            <a:r>
              <a:t>S01 Mussakhojayeva, S., Khassanov, Y., and Varol, H. A. (2022). KSC2: An Industrial-Scale Open-Source Kazakh Speech Corpus. Interspeech 2022, 1367–1371. https://www.isca-archive.org/interspeech_2022/mussakhojayeva22_interspeech.html</a:t>
            </a:r>
          </a:p>
          <a:p xmlns:a="http://schemas.openxmlformats.org/drawingml/2006/main">
            <a:r>
              <a:t>S10 Kirstein, F., Ruas, T., and Gipp, B. (2025). Is my Meeting Summary Good? Estimating Quality with a Multi-LLM Evaluator. COLING Industry Track, 561–574. https://aclanthology.org/2025.coling-industry.48/</a:t>
            </a:r>
          </a:p>
          <a:p xmlns:a="http://schemas.openxmlformats.org/drawingml/2006/main">
            <a:r>
              <a:t>S28 Chen, Z., Futian, J., Deng, Y., He, C., and Li, B. (2025). Meetalk: Retrieval-Augmented and Adaptively Personalized Meeting Summarization with Knowledge Learning from User Corrections. KnowFM. https://aclanthology.org/2025.knowllm-1.9/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 uses local uploaded audio. Supported formats and default 100 MiB limit are defined in backend configuration/contracts. No 60-minute limit or guaranteed real-time inference is claimed. Live-provider connection, accounts and shared approval are not implemented.</a:t>
            </a:r>
          </a:p>
          <a:p xmlns:a="http://schemas.openxmlformats.org/drawingml/2006/main">
            <a:r>
              <a:t/>
            </a:r>
          </a:p>
          <a:p xmlns:a="http://schemas.openxmlformats.org/drawingml/2006/main">
            <a:r>
              <a:t>Sources accessed 23 October 2026:</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reports winning a hackathon with Hattama; event details and an award reference are pending. Published evidence is secondary research. Constructed scenarios in the report illustrate requirements and are not actual interviews. The rubric still requests 3–5 user discussions or a substantive client agreement unless a supervisor-approved alternative is accepted.</a:t>
            </a:r>
          </a:p>
          <a:p xmlns:a="http://schemas.openxmlformats.org/drawingml/2006/main">
            <a:r>
              <a:t/>
            </a:r>
          </a:p>
          <a:p xmlns:a="http://schemas.openxmlformats.org/drawingml/2006/main">
            <a:r>
              <a:t>Sources accessed 23 October 2026:</a:t>
            </a:r>
          </a:p>
          <a:p xmlns:a="http://schemas.openxmlformats.org/drawingml/2006/main">
            <a:r>
              <a:t>S01 Mussakhojayeva, S., Khassanov, Y., and Varol, H. A. (2022). KSC2: An Industrial-Scale Open-Source Kazakh Speech Corpus. Interspeech 2022, 1367–1371. https://www.isca-archive.org/interspeech_2022/mussakhojayeva22_interspeech.html</a:t>
            </a:r>
          </a:p>
          <a:p xmlns:a="http://schemas.openxmlformats.org/drawingml/2006/main">
            <a:r>
              <a:t>S06 Kim, H., Cho, M., and Na, S.-H. (2023). ExplainMeetSum: A Dataset for Explainable Meeting Summarization Aligned with Human Intent. ACL, 13079–13098. https://aclanthology.org/2023.acl-long.731/</a:t>
            </a:r>
          </a:p>
          <a:p xmlns:a="http://schemas.openxmlformats.org/drawingml/2006/main">
            <a:r>
              <a:t>S10 Kirstein, F., Ruas, T., and Gipp, B. (2025). Is my Meeting Summary Good? Estimating Quality with a Multi-LLM Evaluator. COLING Industry Track, 561–574. https://aclanthology.org/2025.coling-industry.48/</a:t>
            </a:r>
          </a:p>
          <a:p xmlns:a="http://schemas.openxmlformats.org/drawingml/2006/main">
            <a:r>
              <a:t>S28 Chen, Z., Futian, J., Deng, Y., He, C., and Li, B. (2025). Meetalk: Retrieval-Augmented and Adaptively Personalized Meeting Summarization with Knowledge Learning from User Corrections. KnowFM. https://aclanthology.org/2025.knowllm-1.9/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scientific publications inform ASR and diarization design. Hattama currently uses mixed-CTC and sherpa ONNX, not WhisperX or pyannote. Paper benchmarks are not measurements of Hattama.</a:t>
            </a:r>
          </a:p>
          <a:p xmlns:a="http://schemas.openxmlformats.org/drawingml/2006/main">
            <a:r>
              <a:t/>
            </a:r>
          </a:p>
          <a:p xmlns:a="http://schemas.openxmlformats.org/drawingml/2006/main">
            <a:r>
              <a:t>Sources accessed 23 October 2026:</a:t>
            </a:r>
          </a:p>
          <a:p xmlns:a="http://schemas.openxmlformats.org/drawingml/2006/main">
            <a:r>
              <a:t>S01 Mussakhojayeva, S., Khassanov, Y., and Varol, H. A. (2022). KSC2: An Industrial-Scale Open-Source Kazakh Speech Corpus. Interspeech 2022, 1367–1371. https://www.isca-archive.org/interspeech_2022/mussakhojayeva22_interspeech.html</a:t>
            </a:r>
          </a:p>
          <a:p xmlns:a="http://schemas.openxmlformats.org/drawingml/2006/main">
            <a:r>
              <a:t>S02 Radford, A., et al. (2023). Robust Speech Recognition via Large-Scale Weak Supervision. ICML, PMLR 202, 28492–28518. https://proceedings.mlr.press/v202/radford23a</a:t>
            </a:r>
          </a:p>
          <a:p xmlns:a="http://schemas.openxmlformats.org/drawingml/2006/main">
            <a:r>
              <a:t>S03 Bain, M., Huh, J., Han, T., and Zisserman, A. (2023). WhisperX: Time-Accurate Speech Transcription of Long-Form Audio. Interspeech 2023. https://www.isca-archive.org/interspeech_2023/bain23_interspeech.html</a:t>
            </a:r>
          </a:p>
          <a:p xmlns:a="http://schemas.openxmlformats.org/drawingml/2006/main">
            <a:r>
              <a:t>S04 Bredin, H. (2023). pyannote.audio 2.1 speaker diarization pipeline: principle, benchmark, and recipe. Interspeech 2023, 1983–1987. https://www.isca-archive.org/interspeech_2023/bredin23_interspeech.html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uses 35 sources, including eleven scientific publications. Meeting summarization datasets are not a substitute for an in-domain bilingual evaluation. Meetalk is a published study, not our own interviews.</a:t>
            </a:r>
          </a:p>
          <a:p xmlns:a="http://schemas.openxmlformats.org/drawingml/2006/main">
            <a:r>
              <a:t/>
            </a:r>
          </a:p>
          <a:p xmlns:a="http://schemas.openxmlformats.org/drawingml/2006/main">
            <a:r>
              <a:t>Sources accessed 23 October 2026:</a:t>
            </a:r>
          </a:p>
          <a:p xmlns:a="http://schemas.openxmlformats.org/drawingml/2006/main">
            <a:r>
              <a:t>S05 Zhong, M., et al. (2021). QMSum: A New Benchmark for Query-based Multi-domain Meeting Summarization. NAACL, 5905–5921. https://aclanthology.org/2021.naacl-main.472/</a:t>
            </a:r>
          </a:p>
          <a:p xmlns:a="http://schemas.openxmlformats.org/drawingml/2006/main">
            <a:r>
              <a:t>S06 Kim, H., Cho, M., and Na, S.-H. (2023). ExplainMeetSum: A Dataset for Explainable Meeting Summarization Aligned with Human Intent. ACL, 13079–13098. https://aclanthology.org/2023.acl-long.731/</a:t>
            </a:r>
          </a:p>
          <a:p xmlns:a="http://schemas.openxmlformats.org/drawingml/2006/main">
            <a:r>
              <a:t>S07 Hu, Y., et al. (2023). MeetingBank: A Benchmark Dataset for Meeting Summarization. ACL, 16409–16423. https://aclanthology.org/2023.acl-long.906/</a:t>
            </a:r>
          </a:p>
          <a:p xmlns:a="http://schemas.openxmlformats.org/drawingml/2006/main">
            <a:r>
              <a:t>S08 Fabbri, A. R., et al. (2021). SummEval: Re-evaluating Summarization Evaluation. TACL 9, 391–409. https://aclanthology.org/2021.tacl-1.24/</a:t>
            </a:r>
          </a:p>
          <a:p xmlns:a="http://schemas.openxmlformats.org/drawingml/2006/main">
            <a:r>
              <a:t>S09 Kirstein, F., Ruas, T., and Gipp, B. (2025). What’s Wrong? Refining Meeting Summaries with LLM Feedback. COLING, 2100–2120. https://aclanthology.org/2025.coling-main.143/</a:t>
            </a:r>
          </a:p>
          <a:p xmlns:a="http://schemas.openxmlformats.org/drawingml/2006/main">
            <a:r>
              <a:t>S10 Kirstein, F., Ruas, T., and Gipp, B. (2025). Is my Meeting Summary Good? Estimating Quality with a Multi-LLM Evaluator. COLING Industry Track, 561–574. https://aclanthology.org/2025.coling-industry.48/</a:t>
            </a:r>
          </a:p>
          <a:p xmlns:a="http://schemas.openxmlformats.org/drawingml/2006/main">
            <a:r>
              <a:t>S28 Chen, Z., Futian, J., Deng, Y., He, C., and Li, B. (2025). Meetalk: Retrieval-Augmented and Adaptively Personalized Meeting Summarization with Knowledge Learning from User Corrections. KnowFM. https://aclanthology.org/2025.knowllm-1.9/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documentation comparison; not hands-on model quality testing. Not listed refers to published source-language lists. Exact Kazakh–Russian mixed-pair quality is unverified.</a:t>
            </a:r>
          </a:p>
          <a:p xmlns:a="http://schemas.openxmlformats.org/drawingml/2006/main">
            <a:r>
              <a:t/>
            </a:r>
          </a:p>
          <a:p xmlns:a="http://schemas.openxmlformats.org/drawingml/2006/main">
            <a:r>
              <a:t>Sources accessed 23 October 2026:</a:t>
            </a:r>
          </a:p>
          <a:p xmlns:a="http://schemas.openxmlformats.org/drawingml/2006/main">
            <a:r>
              <a:t>S11 Fireflies.ai. Supported languages. https://guide.fireflies.ai/articles/2973706448</a:t>
            </a:r>
          </a:p>
          <a:p xmlns:a="http://schemas.openxmlformats.org/drawingml/2006/main">
            <a:r>
              <a:t>S12 Fireflies.ai. How to upload and transcribe audio or video files. https://guide.fireflies.ai/articles/3893959957-how-to-upload-and-transcribe-audio-or-video-files-in-fireflies</a:t>
            </a:r>
          </a:p>
          <a:p xmlns:a="http://schemas.openxmlformats.org/drawingml/2006/main">
            <a:r>
              <a:t>S13 Notta. What languages does Notta support? https://support.notta.ai/hc/en-us/articles/4403155631131-What-languages-does-Notta-support</a:t>
            </a:r>
          </a:p>
          <a:p xmlns:a="http://schemas.openxmlformats.org/drawingml/2006/main">
            <a:r>
              <a:t>S14 Notta. Bilingual transcription and translation on the web. https://support.notta.ai/hc/en-us/articles/23437010425755-Bilingual-transcription-translation-Web</a:t>
            </a:r>
          </a:p>
          <a:p xmlns:a="http://schemas.openxmlformats.org/drawingml/2006/main">
            <a:r>
              <a:t>S17 Otter.ai. Supported languages. https://help.otter.ai/hc/en-us/articles/360047247414-Supported-languages</a:t>
            </a:r>
          </a:p>
          <a:p xmlns:a="http://schemas.openxmlformats.org/drawingml/2006/main">
            <a:r>
              <a:t>S18 Otter.ai. What is Otter? https://help.otter.ai/hc/en-us/articles/360035266494-What-is-Otter</a:t>
            </a:r>
          </a:p>
          <a:p xmlns:a="http://schemas.openxmlformats.org/drawingml/2006/main">
            <a:r>
              <a:t>S19 Otter.ai. Meeting Summary Overview. https://help.otter.ai/hc/en-us/articles/9156381229079-Meeting-Summary-Overview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consistent criteria are provided in the report. Not established means the reviewed sources do not establish a feature. It must not be read as proof of absence. Hattama has a machine original and latest review, without formal approval.</a:t>
            </a:r>
          </a:p>
          <a:p xmlns:a="http://schemas.openxmlformats.org/drawingml/2006/main">
            <a:r>
              <a:t/>
            </a:r>
          </a:p>
          <a:p xmlns:a="http://schemas.openxmlformats.org/drawingml/2006/main">
            <a:r>
              <a:t>Sources accessed 23 October 2026:</a:t>
            </a:r>
          </a:p>
          <a:p xmlns:a="http://schemas.openxmlformats.org/drawingml/2006/main">
            <a:r>
              <a:t>S12 Fireflies.ai. How to upload and transcribe audio or video files. https://guide.fireflies.ai/articles/3893959957-how-to-upload-and-transcribe-audio-or-video-files-in-fireflies</a:t>
            </a:r>
          </a:p>
          <a:p xmlns:a="http://schemas.openxmlformats.org/drawingml/2006/main">
            <a:r>
              <a:t>S15 Notta. Edit, regenerate or delete AI Notes. https://support.notta.ai/hc/en-us/articles/37290499079835-Edit-Regenerate-or-Delete-AI-Notes</a:t>
            </a:r>
          </a:p>
          <a:p xmlns:a="http://schemas.openxmlformats.org/drawingml/2006/main">
            <a:r>
              <a:t>S16 Notta. Export AI summaries. https://support.notta.ai/hc/en-us/articles/37290527491739-Export-AI-summaries</a:t>
            </a:r>
          </a:p>
          <a:p xmlns:a="http://schemas.openxmlformats.org/drawingml/2006/main">
            <a:r>
              <a:t>S18 Otter.ai. What is Otter? https://help.otter.ai/hc/en-us/articles/360035266494-What-is-Otter</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decisions in the report cover server, storage, jobs, ASR, diarization, minutes generation and future live capture. Alternatives are assessed against the working local application and requirements.</a:t>
            </a:r>
          </a:p>
          <a:p xmlns:a="http://schemas.openxmlformats.org/drawingml/2006/main">
            <a:r>
              <a:t/>
            </a:r>
          </a:p>
          <a:p xmlns:a="http://schemas.openxmlformats.org/drawingml/2006/main">
            <a:r>
              <a:t>Sources accessed 23 October 2026:</a:t>
            </a:r>
          </a:p>
          <a:p xmlns:a="http://schemas.openxmlformats.org/drawingml/2006/main">
            <a:r>
              <a:t>S20 OpenAI. Whisper repository and model information. https://github.com/openai/whisper</a:t>
            </a:r>
          </a:p>
          <a:p xmlns:a="http://schemas.openxmlformats.org/drawingml/2006/main">
            <a:r>
              <a:t>S22 FastAPI. Features. https://fastapi.tiangolo.com/features/</a:t>
            </a:r>
          </a:p>
          <a:p xmlns:a="http://schemas.openxmlformats.org/drawingml/2006/main">
            <a:r>
              <a:t>S23 Celery. Introduction. https://docs.celeryq.dev/en/stable/getting-started/introduction.html</a:t>
            </a:r>
          </a:p>
          <a:p xmlns:a="http://schemas.openxmlformats.org/drawingml/2006/main">
            <a:r>
              <a:t>S24 PostgreSQL. Transaction isolation. https://www.postgresql.org/docs/current/transaction-iso.html</a:t>
            </a:r>
          </a:p>
          <a:p xmlns:a="http://schemas.openxmlformats.org/drawingml/2006/main">
            <a:r>
              <a:t>S32 SQLite. Appropriate Uses For SQLite. https://www.sqlite.org/whentouse.html</a:t>
            </a:r>
          </a:p>
          <a:p xmlns:a="http://schemas.openxmlformats.org/drawingml/2006/main">
            <a:r>
              <a:t>S33 k2 fsa. sherpa onnx Speaker Diarization documentation. https://k2-fsa.github.io/sherpa/onnx/speaker-diarization/index.html</a:t>
            </a:r>
          </a:p>
          <a:p xmlns:a="http://schemas.openxmlformats.org/drawingml/2006/main">
            <a:r>
              <a:t>S34 Serikbay, A. Kazakh Russian Mixed STT model card. https://huggingface.co/alibiserikbay/kazakh-russian-mixed-stt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checkpoints: Qwen3-4B-Instruct-2507; Llama-3.1-8B-Instruct; Gemma-3-12B-IT; NVIDIA-Nemotron-3-Nano-30B-A3B-BF16. No head-to-head meeting benchmark has been run. Memory feasibility must include KV cache and runtime overhead. Llama and Nemotron official supported-language lists do not include Kazakh/Russian.</a:t>
            </a:r>
          </a:p>
          <a:p xmlns:a="http://schemas.openxmlformats.org/drawingml/2006/main">
            <a:r>
              <a:t/>
            </a:r>
          </a:p>
          <a:p xmlns:a="http://schemas.openxmlformats.org/drawingml/2006/main">
            <a:r>
              <a:t>Sources accessed 23 October 2026:</a:t>
            </a:r>
          </a:p>
          <a:p xmlns:a="http://schemas.openxmlformats.org/drawingml/2006/main">
            <a:r>
              <a:t>S21 Qwen team. Qwen3-4B-Instruct-2507 model card. https://huggingface.co/Qwen/Qwen3-4B-Instruct-2507</a:t>
            </a:r>
          </a:p>
          <a:p xmlns:a="http://schemas.openxmlformats.org/drawingml/2006/main">
            <a:r>
              <a:t>S29 Meta. Llama 3.1 8B Instruct model card. https://huggingface.co/meta-llama/Llama-3.1-8B-Instruct</a:t>
            </a:r>
          </a:p>
          <a:p xmlns:a="http://schemas.openxmlformats.org/drawingml/2006/main">
            <a:r>
              <a:t>S30 Google DeepMind. Gemma 3 12B IT model card. https://huggingface.co/google/gemma-3-12b-it</a:t>
            </a:r>
          </a:p>
          <a:p xmlns:a="http://schemas.openxmlformats.org/drawingml/2006/main">
            <a:r>
              <a:t>S31 NVIDIA. Nemotron 3 Nano 30B A3B BF16 model card. https://huggingface.co/nvidia/NVIDIA-Nemotron-3-Nano-30B-A3B-BF16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 functional and 13 nonfunctional requirements are linked to components, tests and planning tasks. Implemented behavior and planned extensions are explicitly distinguished. All quality thresholds remain provisional.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local workstation context. A coordinator uploads a permitted recording, reviews the generated result and exports DOCX. A maintainer installs models and launches services. No cloud meeting connector or authenticated multi-user role system is present.</a:t>
            </a:r>
          </a:p>
          <a:p xmlns:a="http://schemas.openxmlformats.org/drawingml/2006/main">
            <a:r>
              <a:t/>
            </a:r>
          </a:p>
          <a:p xmlns:a="http://schemas.openxmlformats.org/drawingml/2006/main">
            <a:r>
              <a:t>Sources accessed 23 October 2026:</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shows current workflow actors, not implemented authentication roles. Transcript segments are read-only. The editor changes participants, tasks and summary. The full editable use-case diagram includes setup, retry and deletion.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baseline: frontend polls FastAPI; SQLite WAL stores meetings, persisted jobs, original and current review JSON; the worker runs model stages in child processes. Audio and exported files remain local. Mac uses MLX and Windows has a PyTorch adapter.</a:t>
            </a:r>
          </a:p>
          <a:p xmlns:a="http://schemas.openxmlformats.org/drawingml/2006/main">
            <a:r>
              <a:t/>
            </a:r>
          </a:p>
          <a:p xmlns:a="http://schemas.openxmlformats.org/drawingml/2006/main">
            <a:r>
              <a:t>Sources accessed 23 October 2026:</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Queued jobs become processing and then done or failed. Failed jobs can be explicitly retried; interrupted processing is recovered as failed. The machine original is retained. Review saves overwrite the latest review with a revision check, not a full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current Hattama application, not the former static prototype. Follow the root README setup instructions and docs/diploma/docs/08-prototype.md. Use a consented short recording and disclose any prerecorded fallback. This documentation pass did not run full model inference.</a:t>
            </a:r>
          </a:p>
          <a:p xmlns:a="http://schemas.openxmlformats.org/drawingml/2006/main">
            <a:r>
              <a:t/>
            </a:r>
          </a:p>
          <a:p xmlns:a="http://schemas.openxmlformats.org/drawingml/2006/main">
            <a:r>
              <a:t>Sources accessed 23 October 2026:</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30 consented meetings, ten per language stratum. Six development, six validation and eighteen test meetings, with whole-meeting grouped splits. Existing tiny hackathon fixtures are not this dataset. The full collection and annotation remain pending.</a:t>
            </a:r>
          </a:p>
          <a:p xmlns:a="http://schemas.openxmlformats.org/drawingml/2006/main">
            <a:r>
              <a:t/>
            </a:r>
          </a:p>
          <a:p xmlns:a="http://schemas.openxmlformats.org/drawingml/2006/main">
            <a:r>
              <a:t>Sources accessed 23 October 2026:</a:t>
            </a:r>
          </a:p>
          <a:p xmlns:a="http://schemas.openxmlformats.org/drawingml/2006/main">
            <a:r>
              <a:t>S01 Mussakhojayeva, S., Khassanov, Y., and Varol, H. A. (2022). KSC2: An Industrial-Scale Open-Source Kazakh Speech Corpus. Interspeech 2022, 1367–1371. https://www.isca-archive.org/interspeech_2022/mussakhojayeva22_interspeech.html</a:t>
            </a:r>
          </a:p>
          <a:p xmlns:a="http://schemas.openxmlformats.org/drawingml/2006/main">
            <a:r>
              <a:t>S05 Zhong, M., et al. (2021). QMSum: A New Benchmark for Query-based Multi-domain Meeting Summarization. NAACL, 5905–5921. https://aclanthology.org/2021.naacl-main.472/</a:t>
            </a:r>
          </a:p>
          <a:p xmlns:a="http://schemas.openxmlformats.org/drawingml/2006/main">
            <a:r>
              <a:t>S06 Kim, H., Cho, M., and Na, S.-H. (2023). ExplainMeetSum: A Dataset for Explainable Meeting Summarization Aligned with Human Intent. ACL, 13079–13098. https://aclanthology.org/2023.acl-long.731/</a:t>
            </a:r>
          </a:p>
          <a:p xmlns:a="http://schemas.openxmlformats.org/drawingml/2006/main">
            <a:r>
              <a:t>S07 Hu, Y., et al. (2023). MeetingBank: A Benchmark Dataset for Meeting Summarization. ACL, 16409–16423. https://aclanthology.org/2023.acl-long.906/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measurements from committed ai/evidence at 13d2271, not fresh measurements. Windows full pipeline: synthetic Russian TTS, 20.7949375 s input, 196.97 s elapsed, RTX 3050 Laptop 4 GB, 16 GB RAM, about 9.47 RTF; missed deadline and incorrect summary noted. The 45-second clip and tiny mixed fixture are not representative benchmarks.</a:t>
            </a:r>
          </a:p>
          <a:p xmlns:a="http://schemas.openxmlformats.org/drawingml/2006/main">
            <a:r>
              <a:t/>
            </a:r>
          </a:p>
          <a:p xmlns:a="http://schemas.openxmlformats.org/drawingml/2006/main">
            <a:r>
              <a:t>Sources accessed 23 October 2026:</a:t>
            </a:r>
          </a:p>
          <a:p xmlns:a="http://schemas.openxmlformats.org/drawingml/2006/main">
            <a:r>
              <a:t>S35 Hattama team. Application source and recorded hackathon evidence. Baseline commit 13d2271. https://github.com/f0nce/hattama/tree/13d2271e846f6566219d8899ac7bf3085865debd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 frontend domain tests passed during this documentation update. Backend pytest could not run because pytest is absent in the available environment. Historical README counts are not fresh checks. Proposed 6–8-user study counterbalances manual versus platform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Assignments are proposed responsibility areas for the diploma continuation. Historical Git authors must be mapped to real contributors by the team, not guessed. Final defense date is still unspecified.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local hackathon baseline. Verify recording permissions, disclosure rights and local network boundaries before wider use. Proposed mitigation work is tracked in the planning backlog.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https://github.com/f0nce/hattama. This update preserves application code and existing history. The user reports YouTrack exists but has no access; URL, membership and real issue IDs remain unverified. The supervisor review is a prepared draft, not a received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0178e0de7e4a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8db4cdd014c41" /><Relationship Type="http://schemas.openxmlformats.org/officeDocument/2006/relationships/slideLayout" Target="/ppt/slideLayouts/slideLayout1.xml" Id="Rf455a0fc278d41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55a0fc278d41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302dfae2a44031" /><Relationship Type="http://schemas.openxmlformats.org/officeDocument/2006/relationships/notesSlide" Target="/ppt/notesSlides/notesSlide1.xml" Id="R5f3b5551067d44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8746e1982142ae" /><Relationship Type="http://schemas.openxmlformats.org/officeDocument/2006/relationships/notesSlide" Target="/ppt/notesSlides/notesSlide2.xml" Id="R8282090196ae40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c80eb885cf4c89" /><Relationship Type="http://schemas.openxmlformats.org/officeDocument/2006/relationships/notesSlide" Target="/ppt/notesSlides/notesSlide3.xml" Id="Rc4f2a21dce1d43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3ac7ef0ed24a34" /><Relationship Type="http://schemas.openxmlformats.org/officeDocument/2006/relationships/notesSlide" Target="/ppt/notesSlides/notesSlide4.xml" Id="Rc87afed3a68340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b0ff1371994c84" /><Relationship Type="http://schemas.openxmlformats.org/officeDocument/2006/relationships/notesSlide" Target="/ppt/notesSlides/notesSlide5.xml" Id="R6484bba42f764e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4c703be9d844a7" /><Relationship Type="http://schemas.openxmlformats.org/officeDocument/2006/relationships/notesSlide" Target="/ppt/notesSlides/notesSlide6.xml" Id="R41604fac041e4b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26d27fd0d147fa" /><Relationship Type="http://schemas.openxmlformats.org/officeDocument/2006/relationships/notesSlide" Target="/ppt/notesSlides/notesSlide7.xml" Id="Ra3cbfa9d46c841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5a9cbae9ab4c3c" /><Relationship Type="http://schemas.openxmlformats.org/officeDocument/2006/relationships/notesSlide" Target="/ppt/notesSlides/notesSlide8.xml" Id="R4e2b9022aa0e45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82cda1abad471d" /><Relationship Type="http://schemas.openxmlformats.org/officeDocument/2006/relationships/notesSlide" Target="/ppt/notesSlides/notesSlide9.xml" Id="R1d8bfd1b15924c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602d3aabe64066" /><Relationship Type="http://schemas.openxmlformats.org/officeDocument/2006/relationships/notesSlide" Target="/ppt/notesSlides/notesSlide10.xml" Id="R218b9df5ff3f4a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2d695a45dd4a19" /><Relationship Type="http://schemas.openxmlformats.org/officeDocument/2006/relationships/notesSlide" Target="/ppt/notesSlides/notesSlide11.xml" Id="R96d6d959318a43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0d11fee3e14ba3" /><Relationship Type="http://schemas.openxmlformats.org/officeDocument/2006/relationships/notesSlide" Target="/ppt/notesSlides/notesSlide12.xml" Id="Ref51abba05fc40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17c32d7e6741c3" /><Relationship Type="http://schemas.openxmlformats.org/officeDocument/2006/relationships/notesSlide" Target="/ppt/notesSlides/notesSlide13.xml" Id="Raa373c4c3f4143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c86fa643e834641" /><Relationship Type="http://schemas.openxmlformats.org/officeDocument/2006/relationships/notesSlide" Target="/ppt/notesSlides/notesSlide14.xml" Id="R2c2263b8ee4444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fbaa26db42441a" /><Relationship Type="http://schemas.openxmlformats.org/officeDocument/2006/relationships/notesSlide" Target="/ppt/notesSlides/notesSlide15.xml" Id="R06d11773cb7041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aa880be47a4f88" /><Relationship Type="http://schemas.openxmlformats.org/officeDocument/2006/relationships/notesSlide" Target="/ppt/notesSlides/notesSlide16.xml" Id="R1fce32d6ff544b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299e5af25b046bd" /><Relationship Type="http://schemas.openxmlformats.org/officeDocument/2006/relationships/notesSlide" Target="/ppt/notesSlides/notesSlide17.xml" Id="R5dd0f55778d444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ee48255f0a497e" /><Relationship Type="http://schemas.openxmlformats.org/officeDocument/2006/relationships/notesSlide" Target="/ppt/notesSlides/notesSlide18.xml" Id="R113e8fba69d54d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80a794944a4368" /><Relationship Type="http://schemas.openxmlformats.org/officeDocument/2006/relationships/notesSlide" Target="/ppt/notesSlides/notesSlide19.xml" Id="R59f397f5e6e844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6558cd7931a4414" /><Relationship Type="http://schemas.openxmlformats.org/officeDocument/2006/relationships/notesSlide" Target="/ppt/notesSlides/notesSlide20.xml" Id="R45ba37b6604c4d7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72f12205a54436d" /><Relationship Type="http://schemas.openxmlformats.org/officeDocument/2006/relationships/notesSlide" Target="/ppt/notesSlides/notesSlide21.xml" Id="R927820cb77a545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76c1b2a46514220" /><Relationship Type="http://schemas.openxmlformats.org/officeDocument/2006/relationships/notesSlide" Target="/ppt/notesSlides/notesSlide22.xml" Id="R1c72bef091c74a0e" /></Relationships>
</file>

<file path=ppt/slides/slide1.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EF6D7C-A488-46D5-A2C1-AF2F2DAE5DA1}"/>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Hattama</a:t>
            </a:r>
          </a:p>
        </p:txBody>
      </p:sp>
      <p:sp>
        <p:nvSpPr>
          <p:cNvPr id="2" name="">
            <a:extLst xmlns:a="http://schemas.openxmlformats.org/drawingml/2006/main">
              <a:ext uri="{FF2B5EF4-FFF2-40B4-BE49-F238E27FC236}">
                <a16:creationId xmlns:a16="http://schemas.microsoft.com/office/drawing/2014/main" id="{6DA67AE9-D15E-415F-BEEF-9ED021D99339}"/>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DD1F7B5E-20E7-4E2A-ABB1-F1849AB969CC}"/>
              </a:ext>
            </a:extLst>
          </p:cNvPr>
          <p:cNvSpPr>
            <a:spLocks xmlns:a="http://schemas.openxmlformats.org/drawingml/2006/main" noGrp="1"/>
          </p:cNvSpPr>
          <p:nvPr/>
        </p:nvSpPr>
        <p:spPr>
          <a:xfrm xmlns:a="http://schemas.openxmlformats.org/drawingml/2006/main">
            <a:off x="628650" y="1428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D7167"/>
                </a:solidFill>
                <a:latin typeface="Arial"/>
                <a:ea typeface="Arial"/>
                <a:cs typeface="Arial"/>
              </a:defRPr>
            </a:pPr>
            <a:r>
              <a:rPr sz="1800" b="0">
                <a:solidFill>
                  <a:srgbClr val="5D7167"/>
                </a:solidFill>
                <a:latin typeface="Arial"/>
                <a:ea typeface="Arial"/>
                <a:cs typeface="Arial"/>
              </a:rPr>
              <a:t>Astana IT University</a:t>
            </a:r>
          </a:p>
          <a:p xmlns:a="http://schemas.openxmlformats.org/drawingml/2006/main">
            <a:pPr>
              <a:buNone/>
              <a:defRPr sz="1800" b="0">
                <a:solidFill>
                  <a:srgbClr val="5D7167"/>
                </a:solidFill>
                <a:latin typeface="Arial"/>
                <a:ea typeface="Arial"/>
                <a:cs typeface="Arial"/>
              </a:defRPr>
            </a:pPr>
            <a:r>
              <a:rPr sz="1800" b="0">
                <a:solidFill>
                  <a:srgbClr val="5D7167"/>
                </a:solidFill>
                <a:latin typeface="Arial"/>
                <a:ea typeface="Arial"/>
                <a:cs typeface="Arial"/>
              </a:rPr>
              <a:t>School of Software Engineering</a:t>
            </a:r>
          </a:p>
        </p:txBody>
      </p:sp>
      <p:sp>
        <p:nvSpPr>
          <p:cNvPr id="4" name="">
            <a:extLst xmlns:a="http://schemas.openxmlformats.org/drawingml/2006/main">
              <a:ext uri="{FF2B5EF4-FFF2-40B4-BE49-F238E27FC236}">
                <a16:creationId xmlns:a16="http://schemas.microsoft.com/office/drawing/2014/main" id="{4C5FC8CC-582B-4881-8618-C75807A67166}"/>
              </a:ext>
            </a:extLst>
          </p:cNvPr>
          <p:cNvSpPr>
            <a:spLocks xmlns:a="http://schemas.openxmlformats.org/drawingml/2006/main" noGrp="1"/>
          </p:cNvSpPr>
          <p:nvPr/>
        </p:nvSpPr>
        <p:spPr>
          <a:xfrm xmlns:a="http://schemas.openxmlformats.org/drawingml/2006/main">
            <a:off x="628650" y="2333625"/>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183D34"/>
                </a:solidFill>
                <a:latin typeface="Arial"/>
                <a:ea typeface="Arial"/>
                <a:cs typeface="Arial"/>
              </a:defRPr>
            </a:pPr>
            <a:r>
              <a:rPr sz="2700" b="0">
                <a:solidFill>
                  <a:srgbClr val="183D34"/>
                </a:solidFill>
                <a:latin typeface="Arial"/>
                <a:ea typeface="Arial"/>
                <a:cs typeface="Arial"/>
              </a:rPr>
              <a:t>Development of a Platform for Automated</a:t>
            </a:r>
          </a:p>
          <a:p xmlns:a="http://schemas.openxmlformats.org/drawingml/2006/main">
            <a:pPr>
              <a:buNone/>
              <a:defRPr sz="2700" b="0">
                <a:solidFill>
                  <a:srgbClr val="183D34"/>
                </a:solidFill>
                <a:latin typeface="Arial"/>
                <a:ea typeface="Arial"/>
                <a:cs typeface="Arial"/>
              </a:defRPr>
            </a:pPr>
            <a:r>
              <a:rPr sz="2700" b="0">
                <a:solidFill>
                  <a:srgbClr val="183D34"/>
                </a:solidFill>
                <a:latin typeface="Arial"/>
                <a:ea typeface="Arial"/>
                <a:cs typeface="Arial"/>
              </a:rPr>
              <a:t>Meeting Minutes Generation in Kazakh and</a:t>
            </a:r>
          </a:p>
          <a:p xmlns:a="http://schemas.openxmlformats.org/drawingml/2006/main">
            <a:pPr>
              <a:buNone/>
              <a:defRPr sz="2700" b="0">
                <a:solidFill>
                  <a:srgbClr val="183D34"/>
                </a:solidFill>
                <a:latin typeface="Arial"/>
                <a:ea typeface="Arial"/>
                <a:cs typeface="Arial"/>
              </a:defRPr>
            </a:pPr>
            <a:r>
              <a:rPr sz="2700" b="0">
                <a:solidFill>
                  <a:srgbClr val="183D34"/>
                </a:solidFill>
                <a:latin typeface="Arial"/>
                <a:ea typeface="Arial"/>
                <a:cs typeface="Arial"/>
              </a:rPr>
              <a:t>Russian Using Neural Network Models</a:t>
            </a:r>
          </a:p>
        </p:txBody>
      </p:sp>
      <p:sp>
        <p:nvSpPr>
          <p:cNvPr id="5" name="">
            <a:extLst xmlns:a="http://schemas.openxmlformats.org/drawingml/2006/main">
              <a:ext uri="{FF2B5EF4-FFF2-40B4-BE49-F238E27FC236}">
                <a16:creationId xmlns:a16="http://schemas.microsoft.com/office/drawing/2014/main" id="{207492D3-D79D-489C-8981-9613B089893C}"/>
              </a:ext>
            </a:extLst>
          </p:cNvPr>
          <p:cNvSpPr>
            <a:spLocks xmlns:a="http://schemas.openxmlformats.org/drawingml/2006/main" noGrp="1"/>
          </p:cNvSpPr>
          <p:nvPr/>
        </p:nvSpPr>
        <p:spPr>
          <a:xfrm xmlns:a="http://schemas.openxmlformats.org/drawingml/2006/main">
            <a:off x="628650" y="4286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83D34"/>
                </a:solidFill>
                <a:latin typeface="Arial"/>
                <a:ea typeface="Arial"/>
                <a:cs typeface="Arial"/>
              </a:defRPr>
            </a:pPr>
            <a:r>
              <a:rPr sz="1725" b="0">
                <a:solidFill>
                  <a:srgbClr val="183D34"/>
                </a:solidFill>
                <a:latin typeface="Arial"/>
                <a:ea typeface="Arial"/>
                <a:cs typeface="Arial"/>
              </a:rPr>
              <a:t>Akhmetov Kazbek  /  Uranov Daryn  /  Tazhibayev Marsel</a:t>
            </a:r>
          </a:p>
          <a:p xmlns:a="http://schemas.openxmlformats.org/drawingml/2006/main">
            <a:pPr>
              <a:buNone/>
              <a:defRPr sz="1725" b="0">
                <a:solidFill>
                  <a:srgbClr val="183D34"/>
                </a:solidFill>
                <a:latin typeface="Arial"/>
                <a:ea typeface="Arial"/>
                <a:cs typeface="Arial"/>
              </a:defRPr>
            </a:pPr>
            <a:r>
              <a:rPr sz="1725" b="0">
                <a:solidFill>
                  <a:srgbClr val="183D34"/>
                </a:solidFill>
                <a:latin typeface="Arial"/>
                <a:ea typeface="Arial"/>
                <a:cs typeface="Arial"/>
              </a:rPr>
              <a:t>Software Engineering  /  SE-2403</a:t>
            </a:r>
          </a:p>
        </p:txBody>
      </p:sp>
      <p:sp>
        <p:nvSpPr>
          <p:cNvPr id="7" name="">
            <a:extLst xmlns:a="http://schemas.openxmlformats.org/drawingml/2006/main">
              <a:ext uri="{FF2B5EF4-FFF2-40B4-BE49-F238E27FC236}">
                <a16:creationId xmlns:a16="http://schemas.microsoft.com/office/drawing/2014/main" id="{BAAC5861-27DC-4078-8131-7BF021112470}"/>
              </a:ext>
            </a:extLst>
          </p:cNvPr>
          <p:cNvSpPr>
            <a:spLocks xmlns:a="http://schemas.openxmlformats.org/drawingml/2006/main" noGrp="1"/>
          </p:cNvSpPr>
          <p:nvPr/>
        </p:nvSpPr>
        <p:spPr>
          <a:xfrm xmlns:a="http://schemas.openxmlformats.org/drawingml/2006/main">
            <a:off x="62865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Supervisor: Aitmukhanbetova Elvira, Senior Lecturer</a:t>
            </a:r>
          </a:p>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First pre-defense  /  2026</a:t>
            </a:r>
          </a:p>
        </p:txBody>
      </p:sp>
    </p:spTree>
    <p:extLst>
      <p:ext uri="{BB962C8B-B14F-4D97-AF65-F5344CB8AC3E}">
        <p14:creationId xmlns:p14="http://schemas.microsoft.com/office/powerpoint/2010/main" val="501679410"/>
      </p:ext>
    </p:extLst>
  </p:cSld>
</p:sld>
</file>

<file path=ppt/slides/slide2.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37DB2B-702D-45B0-A3A1-7719BB148E63}"/>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Problem and target users</a:t>
            </a:r>
          </a:p>
        </p:txBody>
      </p:sp>
      <p:sp>
        <p:nvSpPr>
          <p:cNvPr id="2" name="">
            <a:extLst xmlns:a="http://schemas.openxmlformats.org/drawingml/2006/main">
              <a:ext uri="{FF2B5EF4-FFF2-40B4-BE49-F238E27FC236}">
                <a16:creationId xmlns:a16="http://schemas.microsoft.com/office/drawing/2014/main" id="{4B23A06F-C79C-47EA-AD93-EFB447F12B9A}"/>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DCB120A9-0696-4E16-A8AB-049DB7295873}"/>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Working problem</a:t>
            </a:r>
          </a:p>
        </p:txBody>
      </p:sp>
      <p:sp>
        <p:nvSpPr>
          <p:cNvPr id="4" name="">
            <a:extLst xmlns:a="http://schemas.openxmlformats.org/drawingml/2006/main">
              <a:ext uri="{FF2B5EF4-FFF2-40B4-BE49-F238E27FC236}">
                <a16:creationId xmlns:a16="http://schemas.microsoft.com/office/drawing/2014/main" id="{90CC6E60-FC5E-4097-8D02-92BE3895AADF}"/>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Preparing reliable minutes requires checking decisions, names, owners and deadlines.</a:t>
            </a:r>
          </a:p>
          <a:p xmlns:a="http://schemas.openxmlformats.org/drawingml/2006/main">
            <a:r>
              <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Kazakh–Russian mixed speech adds a language-specific evaluation need.</a:t>
            </a:r>
          </a:p>
        </p:txBody>
      </p:sp>
      <p:sp>
        <p:nvSpPr>
          <p:cNvPr id="5" name="">
            <a:extLst xmlns:a="http://schemas.openxmlformats.org/drawingml/2006/main">
              <a:ext uri="{FF2B5EF4-FFF2-40B4-BE49-F238E27FC236}">
                <a16:creationId xmlns:a16="http://schemas.microsoft.com/office/drawing/2014/main" id="{53529A08-2AA5-4763-831E-DD1E9337489F}"/>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Primary users</a:t>
            </a:r>
          </a:p>
        </p:txBody>
      </p:sp>
      <p:sp>
        <p:nvSpPr>
          <p:cNvPr id="6" name="">
            <a:extLst xmlns:a="http://schemas.openxmlformats.org/drawingml/2006/main">
              <a:ext uri="{FF2B5EF4-FFF2-40B4-BE49-F238E27FC236}">
                <a16:creationId xmlns:a16="http://schemas.microsoft.com/office/drawing/2014/main" id="{3EE85576-B281-44DC-9DF1-61133938F5B7}"/>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Meeting secretaries and coordinators</a:t>
            </a:r>
          </a:p>
          <a:p xmlns:a="http://schemas.openxmlformats.org/drawingml/2006/main">
            <a:r>
              <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Bilingual project and academic teams</a:t>
            </a:r>
          </a:p>
          <a:p xmlns:a="http://schemas.openxmlformats.org/drawingml/2006/main">
            <a:r>
              <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A local operator who checks the draft</a:t>
            </a:r>
          </a:p>
        </p:txBody>
      </p:sp>
      <p:sp>
        <p:nvSpPr>
          <p:cNvPr id="7" name="">
            <a:extLst xmlns:a="http://schemas.openxmlformats.org/drawingml/2006/main">
              <a:ext uri="{FF2B5EF4-FFF2-40B4-BE49-F238E27FC236}">
                <a16:creationId xmlns:a16="http://schemas.microsoft.com/office/drawing/2014/main" id="{4F6C082F-0E17-46E1-B009-DF226BB71E7B}"/>
              </a:ext>
            </a:extLst>
          </p:cNvPr>
          <p:cNvSpPr>
            <a:spLocks xmlns:a="http://schemas.openxmlformats.org/drawingml/2006/main" noGrp="1"/>
          </p:cNvSpPr>
          <p:nvPr/>
        </p:nvSpPr>
        <p:spPr>
          <a:xfrm xmlns:a="http://schemas.openxmlformats.org/drawingml/2006/main">
            <a:off x="628650" y="5810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83D34"/>
                </a:solidFill>
                <a:latin typeface="Arial"/>
                <a:ea typeface="Arial"/>
                <a:cs typeface="Arial"/>
              </a:defRPr>
            </a:pPr>
            <a:r>
              <a:rPr sz="1875" b="1">
                <a:solidFill>
                  <a:srgbClr val="183D34"/>
                </a:solidFill>
                <a:latin typeface="Arial"/>
                <a:ea typeface="Arial"/>
                <a:cs typeface="Arial"/>
              </a:rPr>
              <a:t>Aim: reduce preparation effort while retaining factual accuracy and traceable task evidence.</a:t>
            </a:r>
          </a:p>
        </p:txBody>
      </p:sp>
    </p:spTree>
    <p:extLst>
      <p:ext uri="{BB962C8B-B14F-4D97-AF65-F5344CB8AC3E}">
        <p14:creationId xmlns:p14="http://schemas.microsoft.com/office/powerpoint/2010/main" val="1320493219"/>
      </p:ext>
    </p:extLst>
  </p:cSld>
</p:sld>
</file>

<file path=ppt/slides/slide3.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CD8016-5D2B-41E5-98B7-FB4664FA820E}"/>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Implemented scope and next extension</a:t>
            </a:r>
          </a:p>
        </p:txBody>
      </p:sp>
      <p:sp>
        <p:nvSpPr>
          <p:cNvPr id="2" name="">
            <a:extLst xmlns:a="http://schemas.openxmlformats.org/drawingml/2006/main">
              <a:ext uri="{FF2B5EF4-FFF2-40B4-BE49-F238E27FC236}">
                <a16:creationId xmlns:a16="http://schemas.microsoft.com/office/drawing/2014/main" id="{CF6D772C-42F4-498A-B39F-EE392FEB7EE4}"/>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843A7D9A-859F-4E33-92A3-DDD8C6149715}"/>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Working baseline</a:t>
            </a:r>
          </a:p>
        </p:txBody>
      </p:sp>
      <p:sp>
        <p:nvSpPr>
          <p:cNvPr id="4" name="">
            <a:extLst xmlns:a="http://schemas.openxmlformats.org/drawingml/2006/main">
              <a:ext uri="{FF2B5EF4-FFF2-40B4-BE49-F238E27FC236}">
                <a16:creationId xmlns:a16="http://schemas.microsoft.com/office/drawing/2014/main" id="{8C2F538D-7AB9-49D9-A8F9-BEF9E593735F}"/>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WAV, MP3, M4A and FLAC upload</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Default limit: 100 MiB</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Local ASR, diarization and generation</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Edit participants, tasks and summary</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Export the saved revision as DOCX</a:t>
            </a:r>
          </a:p>
        </p:txBody>
      </p:sp>
      <p:sp>
        <p:nvSpPr>
          <p:cNvPr id="5" name="">
            <a:extLst xmlns:a="http://schemas.openxmlformats.org/drawingml/2006/main">
              <a:ext uri="{FF2B5EF4-FFF2-40B4-BE49-F238E27FC236}">
                <a16:creationId xmlns:a16="http://schemas.microsoft.com/office/drawing/2014/main" id="{230021D6-AB9A-4A72-BEB2-2C5283FC6232}"/>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Planned extension</a:t>
            </a:r>
          </a:p>
        </p:txBody>
      </p:sp>
      <p:sp>
        <p:nvSpPr>
          <p:cNvPr id="6" name="">
            <a:extLst xmlns:a="http://schemas.openxmlformats.org/drawingml/2006/main">
              <a:ext uri="{FF2B5EF4-FFF2-40B4-BE49-F238E27FC236}">
                <a16:creationId xmlns:a16="http://schemas.microsoft.com/office/drawing/2014/main" id="{F69FD206-CBD5-438A-932B-32B3C9A165DB}"/>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Connect to one live meeting provider</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Incremental source updates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Reconcile the final recording</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Evaluate latency and audio gaps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Retain upload as a fallback</a:t>
            </a:r>
          </a:p>
        </p:txBody>
      </p:sp>
      <p:sp>
        <p:nvSpPr>
          <p:cNvPr id="7" name="">
            <a:extLst xmlns:a="http://schemas.openxmlformats.org/drawingml/2006/main">
              <a:ext uri="{FF2B5EF4-FFF2-40B4-BE49-F238E27FC236}">
                <a16:creationId xmlns:a16="http://schemas.microsoft.com/office/drawing/2014/main" id="{B7ED2ED0-E7C1-415C-84E8-A01007FC6314}"/>
              </a:ext>
            </a:extLst>
          </p:cNvPr>
          <p:cNvSpPr>
            <a:spLocks xmlns:a="http://schemas.openxmlformats.org/drawingml/2006/main" noGrp="1"/>
          </p:cNvSpPr>
          <p:nvPr/>
        </p:nvSpPr>
        <p:spPr>
          <a:xfrm xmlns:a="http://schemas.openxmlformats.org/drawingml/2006/main">
            <a:off x="628650" y="57531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83D34"/>
                </a:solidFill>
                <a:latin typeface="Arial"/>
                <a:ea typeface="Arial"/>
                <a:cs typeface="Arial"/>
              </a:defRPr>
            </a:pPr>
            <a:r>
              <a:rPr sz="1950" b="1">
                <a:solidFill>
                  <a:srgbClr val="183D34"/>
                </a:solidFill>
                <a:latin typeface="Arial"/>
                <a:ea typeface="Arial"/>
                <a:cs typeface="Arial"/>
              </a:rPr>
              <a:t>React web interface · FastAPI API · SQLite WAL · Local model stages</a:t>
            </a:r>
          </a:p>
        </p:txBody>
      </p:sp>
    </p:spTree>
    <p:extLst>
      <p:ext uri="{BB962C8B-B14F-4D97-AF65-F5344CB8AC3E}">
        <p14:creationId xmlns:p14="http://schemas.microsoft.com/office/powerpoint/2010/main" val="2016533333"/>
      </p:ext>
    </p:extLst>
  </p:cSld>
</p:sld>
</file>

<file path=ppt/slides/slide4.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0EC6FF-2C59-4375-B983-C82C85824D9B}"/>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Evidence of relevance</a:t>
            </a:r>
          </a:p>
        </p:txBody>
      </p:sp>
      <p:sp>
        <p:nvSpPr>
          <p:cNvPr id="2" name="">
            <a:extLst xmlns:a="http://schemas.openxmlformats.org/drawingml/2006/main">
              <a:ext uri="{FF2B5EF4-FFF2-40B4-BE49-F238E27FC236}">
                <a16:creationId xmlns:a16="http://schemas.microsoft.com/office/drawing/2014/main" id="{CE6DCBFA-0423-47F2-B6F9-E37A034C73A4}"/>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4</a:t>
            </a:r>
          </a:p>
        </p:txBody>
      </p:sp>
      <p:graphicFrame>
        <p:nvGraphicFramePr>
          <p:cNvPr id="9" name=""/>
          <p:cNvGraphicFramePr/>
          <p:nvPr/>
        </p:nvGraphicFramePr>
        <p:xfrm>
          <a:off xmlns:a="http://schemas.openxmlformats.org/drawingml/2006/main" x="609600" y="1476375"/>
          <a:ext xmlns:a="http://schemas.openxmlformats.org/drawingml/2006/main" cx="10972800" cy="3333750"/>
        </p:xfrm>
        <a:graphic xmlns:a="http://schemas.openxmlformats.org/drawingml/2006/main">
          <a:graphicData uri="http://schemas.openxmlformats.org/drawingml/2006/table">
            <a:tbl>
              <a:tblPr/>
              <a:tblGrid>
                <a:gridCol w="3714750"/>
                <a:gridCol w="7258050"/>
              </a:tblGrid>
              <a:tr h="666750">
                <a:tc>
                  <a:txBody>
                    <a:bodyPr>
                      <a:noAutofit/>
                    </a:bodyPr>
                    <a:lstStyle/>
                    <a:p>
                      <a:r>
                        <a:rPr sz="1800" b="1">
                          <a:solidFill>
                            <a:srgbClr val="FFFFFF"/>
                          </a:solidFill>
                          <a:latin typeface="Arial"/>
                          <a:ea typeface="Arial"/>
                          <a:cs typeface="Arial"/>
                        </a:rPr>
                        <a:t>Evidence</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Implication for Hattama</a:t>
                      </a:r>
                    </a:p>
                  </a:txBody>
                  <a:tcPr marL="91440" marR="91440" marT="45720" marB="45720">
                    <a:solidFill>
                      <a:srgbClr val="2B5F4C"/>
                    </a:solidFill>
                  </a:tcPr>
                </a:tc>
              </a:tr>
              <a:tr h="666750">
                <a:tc>
                  <a:txBody>
                    <a:bodyPr>
                      <a:noAutofit/>
                    </a:bodyPr>
                    <a:lstStyle/>
                    <a:p>
                      <a:r>
                        <a:rPr sz="1800" b="0">
                          <a:solidFill>
                            <a:srgbClr val="183D34"/>
                          </a:solidFill>
                          <a:latin typeface="Arial"/>
                          <a:ea typeface="Arial"/>
                          <a:cs typeface="Arial"/>
                        </a:rPr>
                        <a:t>Kazakh speech resources · KSC2</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Evaluate Kazakh separately from Russian and mixed speech</a:t>
                      </a:r>
                    </a:p>
                  </a:txBody>
                  <a:tcPr marL="91440" marR="91440" marT="45720" marB="45720">
                    <a:solidFill>
                      <a:srgbClr val="FFFFFF"/>
                    </a:solidFill>
                  </a:tcPr>
                </a:tc>
              </a:tr>
              <a:tr h="666750">
                <a:tc>
                  <a:txBody>
                    <a:bodyPr>
                      <a:noAutofit/>
                    </a:bodyPr>
                    <a:lstStyle/>
                    <a:p>
                      <a:r>
                        <a:rPr sz="1800" b="0">
                          <a:solidFill>
                            <a:srgbClr val="183D34"/>
                          </a:solidFill>
                          <a:latin typeface="Arial"/>
                          <a:ea typeface="Arial"/>
                          <a:cs typeface="Arial"/>
                        </a:rPr>
                        <a:t>ExplainMeetSum / MESA</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Inspect source support, omissions and incorrect attribution</a:t>
                      </a:r>
                    </a:p>
                  </a:txBody>
                  <a:tcPr marL="91440" marR="91440" marT="45720" marB="45720">
                    <a:solidFill>
                      <a:srgbClr val="EDF3E5"/>
                    </a:solidFill>
                  </a:tcPr>
                </a:tc>
              </a:tr>
              <a:tr h="666750">
                <a:tc>
                  <a:txBody>
                    <a:bodyPr>
                      <a:noAutofit/>
                    </a:bodyPr>
                    <a:lstStyle/>
                    <a:p>
                      <a:r>
                        <a:rPr sz="1800" b="0">
                          <a:solidFill>
                            <a:srgbClr val="183D34"/>
                          </a:solidFill>
                          <a:latin typeface="Arial"/>
                          <a:ea typeface="Arial"/>
                          <a:cs typeface="Arial"/>
                        </a:rPr>
                        <a:t>Meetalk · 2025</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Treat AI minutes as drafts requiring human interaction</a:t>
                      </a:r>
                    </a:p>
                  </a:txBody>
                  <a:tcPr marL="91440" marR="91440" marT="45720" marB="45720">
                    <a:solidFill>
                      <a:srgbClr val="FFFFFF"/>
                    </a:solidFill>
                  </a:tcPr>
                </a:tc>
              </a:tr>
              <a:tr h="666750">
                <a:tc>
                  <a:txBody>
                    <a:bodyPr>
                      <a:noAutofit/>
                    </a:bodyPr>
                    <a:lstStyle/>
                    <a:p>
                      <a:r>
                        <a:rPr sz="1800" b="0">
                          <a:solidFill>
                            <a:srgbClr val="183D34"/>
                          </a:solidFill>
                          <a:latin typeface="Arial"/>
                          <a:ea typeface="Arial"/>
                          <a:cs typeface="Arial"/>
                        </a:rPr>
                        <a:t>Hackathon achievement</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Team reports a win; attach event details and award reference</a:t>
                      </a:r>
                    </a:p>
                  </a:txBody>
                  <a:tcPr marL="91440" marR="91440" marT="45720" marB="45720">
                    <a:solidFill>
                      <a:srgbClr val="EDF3E5"/>
                    </a:solidFill>
                  </a:tcPr>
                </a:tc>
              </a:tr>
            </a:tbl>
          </a:graphicData>
        </a:graphic>
      </p:graphicFrame>
      <p:sp>
        <p:nvSpPr>
          <p:cNvPr id="4" name="">
            <a:extLst xmlns:a="http://schemas.openxmlformats.org/drawingml/2006/main">
              <a:ext uri="{FF2B5EF4-FFF2-40B4-BE49-F238E27FC236}">
                <a16:creationId xmlns:a16="http://schemas.microsoft.com/office/drawing/2014/main" id="{8AEEBF53-D736-4045-BB29-F5EFA2A6877D}"/>
              </a:ext>
            </a:extLst>
          </p:cNvPr>
          <p:cNvSpPr>
            <a:spLocks xmlns:a="http://schemas.openxmlformats.org/drawingml/2006/main" noGrp="1"/>
          </p:cNvSpPr>
          <p:nvPr/>
        </p:nvSpPr>
        <p:spPr>
          <a:xfrm xmlns:a="http://schemas.openxmlformats.org/drawingml/2006/main">
            <a:off x="628650" y="523875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83D34"/>
                </a:solidFill>
                <a:latin typeface="Arial"/>
                <a:ea typeface="Arial"/>
                <a:cs typeface="Arial"/>
              </a:defRPr>
            </a:pPr>
            <a:r>
              <a:rPr sz="1950" b="1">
                <a:solidFill>
                  <a:srgbClr val="183D34"/>
                </a:solidFill>
                <a:latin typeface="Arial"/>
                <a:ea typeface="Arial"/>
                <a:cs typeface="Arial"/>
              </a:rPr>
              <a:t>Published findings support the design. Local demand and user benefit remain to be verified.</a:t>
            </a:r>
          </a:p>
        </p:txBody>
      </p:sp>
    </p:spTree>
    <p:extLst>
      <p:ext uri="{BB962C8B-B14F-4D97-AF65-F5344CB8AC3E}">
        <p14:creationId xmlns:p14="http://schemas.microsoft.com/office/powerpoint/2010/main" val="1638808749"/>
      </p:ext>
    </p:extLst>
  </p:cSld>
</p:sld>
</file>

<file path=ppt/slides/slide5.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E3BBF1-955B-498A-8C40-5014660A73E6}"/>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Literature on speech and attribution</a:t>
            </a:r>
          </a:p>
        </p:txBody>
      </p:sp>
      <p:sp>
        <p:nvSpPr>
          <p:cNvPr id="2" name="">
            <a:extLst xmlns:a="http://schemas.openxmlformats.org/drawingml/2006/main">
              <a:ext uri="{FF2B5EF4-FFF2-40B4-BE49-F238E27FC236}">
                <a16:creationId xmlns:a16="http://schemas.microsoft.com/office/drawing/2014/main" id="{0C946604-6B52-4897-B98E-738BBC56324F}"/>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5</a:t>
            </a:r>
          </a:p>
        </p:txBody>
      </p:sp>
      <p:graphicFrame>
        <p:nvGraphicFramePr>
          <p:cNvPr id="9" name=""/>
          <p:cNvGraphicFramePr/>
          <p:nvPr/>
        </p:nvGraphicFramePr>
        <p:xfrm>
          <a:off xmlns:a="http://schemas.openxmlformats.org/drawingml/2006/main" x="609600" y="1476375"/>
          <a:ext xmlns:a="http://schemas.openxmlformats.org/drawingml/2006/main" cx="10972800" cy="3429000"/>
        </p:xfrm>
        <a:graphic xmlns:a="http://schemas.openxmlformats.org/drawingml/2006/main">
          <a:graphicData uri="http://schemas.openxmlformats.org/drawingml/2006/table">
            <a:tbl>
              <a:tblPr/>
              <a:tblGrid>
                <a:gridCol w="4000500"/>
                <a:gridCol w="6972300"/>
              </a:tblGrid>
              <a:tr h="685800">
                <a:tc>
                  <a:txBody>
                    <a:bodyPr>
                      <a:noAutofit/>
                    </a:bodyPr>
                    <a:lstStyle/>
                    <a:p>
                      <a:r>
                        <a:rPr sz="1800" b="1">
                          <a:solidFill>
                            <a:srgbClr val="FFFFFF"/>
                          </a:solidFill>
                          <a:latin typeface="Arial"/>
                          <a:ea typeface="Arial"/>
                          <a:cs typeface="Arial"/>
                        </a:rPr>
                        <a:t>Scientific source</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Design implication</a:t>
                      </a:r>
                    </a:p>
                  </a:txBody>
                  <a:tcPr marL="91440" marR="91440" marT="45720" marB="45720">
                    <a:solidFill>
                      <a:srgbClr val="2B5F4C"/>
                    </a:solidFill>
                  </a:tcPr>
                </a:tc>
              </a:tr>
              <a:tr h="685800">
                <a:tc>
                  <a:txBody>
                    <a:bodyPr>
                      <a:noAutofit/>
                    </a:bodyPr>
                    <a:lstStyle/>
                    <a:p>
                      <a:r>
                        <a:rPr sz="1800" b="0">
                          <a:solidFill>
                            <a:srgbClr val="183D34"/>
                          </a:solidFill>
                          <a:latin typeface="Arial"/>
                          <a:ea typeface="Arial"/>
                          <a:cs typeface="Arial"/>
                        </a:rPr>
                        <a:t>KSC2 · 2022</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Use Kazakh resources; retain an in-domain held-out test set</a:t>
                      </a:r>
                    </a:p>
                  </a:txBody>
                  <a:tcPr marL="91440" marR="91440" marT="45720" marB="45720">
                    <a:solidFill>
                      <a:srgbClr val="FFFFFF"/>
                    </a:solidFill>
                  </a:tcPr>
                </a:tc>
              </a:tr>
              <a:tr h="685800">
                <a:tc>
                  <a:txBody>
                    <a:bodyPr>
                      <a:noAutofit/>
                    </a:bodyPr>
                    <a:lstStyle/>
                    <a:p>
                      <a:r>
                        <a:rPr sz="1800" b="0">
                          <a:solidFill>
                            <a:srgbClr val="183D34"/>
                          </a:solidFill>
                          <a:latin typeface="Arial"/>
                          <a:ea typeface="Arial"/>
                          <a:cs typeface="Arial"/>
                        </a:rPr>
                        <a:t>Whisper · 2023</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Compare multilingual ASR against the current mixed-CTC</a:t>
                      </a:r>
                    </a:p>
                  </a:txBody>
                  <a:tcPr marL="91440" marR="91440" marT="45720" marB="45720">
                    <a:solidFill>
                      <a:srgbClr val="EDF3E5"/>
                    </a:solidFill>
                  </a:tcPr>
                </a:tc>
              </a:tr>
              <a:tr h="685800">
                <a:tc>
                  <a:txBody>
                    <a:bodyPr>
                      <a:noAutofit/>
                    </a:bodyPr>
                    <a:lstStyle/>
                    <a:p>
                      <a:r>
                        <a:rPr sz="1800" b="0">
                          <a:solidFill>
                            <a:srgbClr val="183D34"/>
                          </a:solidFill>
                          <a:latin typeface="Arial"/>
                          <a:ea typeface="Arial"/>
                          <a:cs typeface="Arial"/>
                        </a:rPr>
                        <a:t>WhisperX · 2023</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Consider alignment where language and model support permit</a:t>
                      </a:r>
                    </a:p>
                  </a:txBody>
                  <a:tcPr marL="91440" marR="91440" marT="45720" marB="45720">
                    <a:solidFill>
                      <a:srgbClr val="FFFFFF"/>
                    </a:solidFill>
                  </a:tcPr>
                </a:tc>
              </a:tr>
              <a:tr h="685800">
                <a:tc>
                  <a:txBody>
                    <a:bodyPr>
                      <a:noAutofit/>
                    </a:bodyPr>
                    <a:lstStyle/>
                    <a:p>
                      <a:r>
                        <a:rPr sz="1800" b="0">
                          <a:solidFill>
                            <a:srgbClr val="183D34"/>
                          </a:solidFill>
                          <a:latin typeface="Arial"/>
                          <a:ea typeface="Arial"/>
                          <a:cs typeface="Arial"/>
                        </a:rPr>
                        <a:t>pyannote.audio 2.1 · 2023</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Measure speaker errors; labels do not identify real people</a:t>
                      </a:r>
                    </a:p>
                  </a:txBody>
                  <a:tcPr marL="91440" marR="91440" marT="45720" marB="45720">
                    <a:solidFill>
                      <a:srgbClr val="EDF3E5"/>
                    </a:solidFill>
                  </a:tcPr>
                </a:tc>
              </a:tr>
            </a:tbl>
          </a:graphicData>
        </a:graphic>
      </p:graphicFrame>
      <p:sp>
        <p:nvSpPr>
          <p:cNvPr id="4" name="">
            <a:extLst xmlns:a="http://schemas.openxmlformats.org/drawingml/2006/main">
              <a:ext uri="{FF2B5EF4-FFF2-40B4-BE49-F238E27FC236}">
                <a16:creationId xmlns:a16="http://schemas.microsoft.com/office/drawing/2014/main" id="{9AB9F487-3F88-446F-B590-B5575E8442F5}"/>
              </a:ext>
            </a:extLst>
          </p:cNvPr>
          <p:cNvSpPr>
            <a:spLocks xmlns:a="http://schemas.openxmlformats.org/drawingml/2006/main" noGrp="1"/>
          </p:cNvSpPr>
          <p:nvPr/>
        </p:nvSpPr>
        <p:spPr>
          <a:xfrm xmlns:a="http://schemas.openxmlformats.org/drawingml/2006/main">
            <a:off x="628650" y="533400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D7167"/>
                </a:solidFill>
                <a:latin typeface="Arial"/>
                <a:ea typeface="Arial"/>
                <a:cs typeface="Arial"/>
              </a:defRPr>
            </a:pPr>
            <a:r>
              <a:rPr sz="1875" b="0">
                <a:solidFill>
                  <a:srgbClr val="5D7167"/>
                </a:solidFill>
                <a:latin typeface="Arial"/>
                <a:ea typeface="Arial"/>
                <a:cs typeface="Arial"/>
              </a:rPr>
              <a:t>Current pipeline: mixed-CTC transcription and sherpa ONNX speaker stages. Speaker names require review.</a:t>
            </a:r>
          </a:p>
        </p:txBody>
      </p:sp>
    </p:spTree>
    <p:extLst>
      <p:ext uri="{BB962C8B-B14F-4D97-AF65-F5344CB8AC3E}">
        <p14:creationId xmlns:p14="http://schemas.microsoft.com/office/powerpoint/2010/main" val="410422275"/>
      </p:ext>
    </p:extLst>
  </p:cSld>
</p:sld>
</file>

<file path=ppt/slides/slide6.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016A02-78D3-43AE-990F-0779507CBA89}"/>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Literature on minutes and evaluation</a:t>
            </a:r>
          </a:p>
        </p:txBody>
      </p:sp>
      <p:sp>
        <p:nvSpPr>
          <p:cNvPr id="2" name="">
            <a:extLst xmlns:a="http://schemas.openxmlformats.org/drawingml/2006/main">
              <a:ext uri="{FF2B5EF4-FFF2-40B4-BE49-F238E27FC236}">
                <a16:creationId xmlns:a16="http://schemas.microsoft.com/office/drawing/2014/main" id="{AA03E353-BB1D-4449-A315-E82503FC6FA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1447B3C3-1E06-4F2B-B6E1-52BF882FEFF4}"/>
              </a:ext>
            </a:extLst>
          </p:cNvPr>
          <p:cNvSpPr>
            <a:spLocks xmlns:a="http://schemas.openxmlformats.org/drawingml/2006/main" noGrp="1"/>
          </p:cNvSpPr>
          <p:nvPr/>
        </p:nvSpPr>
        <p:spPr>
          <a:xfrm xmlns:a="http://schemas.openxmlformats.org/drawingml/2006/main">
            <a:off x="628650" y="59055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D7167"/>
                </a:solidFill>
                <a:latin typeface="Arial"/>
                <a:ea typeface="Arial"/>
                <a:cs typeface="Arial"/>
              </a:defRPr>
            </a:pPr>
            <a:r>
              <a:rPr sz="1650" b="0">
                <a:solidFill>
                  <a:srgbClr val="5D7167"/>
                </a:solidFill>
                <a:latin typeface="Arial"/>
                <a:ea typeface="Arial"/>
                <a:cs typeface="Arial"/>
              </a:rPr>
              <a:t>Measure decisions, owners and deadlines against independent annotations.</a:t>
            </a:r>
          </a:p>
        </p:txBody>
      </p:sp>
      <p:graphicFrame>
        <p:nvGraphicFramePr>
          <p:cNvPr id="10" name=""/>
          <p:cNvGraphicFramePr/>
          <p:nvPr/>
        </p:nvGraphicFramePr>
        <p:xfrm>
          <a:off xmlns:a="http://schemas.openxmlformats.org/drawingml/2006/main" x="609600" y="1428750"/>
          <a:ext xmlns:a="http://schemas.openxmlformats.org/drawingml/2006/main" cx="10972800" cy="4191000"/>
        </p:xfrm>
        <a:graphic xmlns:a="http://schemas.openxmlformats.org/drawingml/2006/main">
          <a:graphicData uri="http://schemas.openxmlformats.org/drawingml/2006/table">
            <a:tbl>
              <a:tblPr/>
              <a:tblGrid>
                <a:gridCol w="4095750"/>
                <a:gridCol w="6877050"/>
              </a:tblGrid>
              <a:tr h="598714">
                <a:tc>
                  <a:txBody>
                    <a:bodyPr>
                      <a:noAutofit/>
                    </a:bodyPr>
                    <a:lstStyle/>
                    <a:p>
                      <a:r>
                        <a:rPr sz="1650" b="1">
                          <a:solidFill>
                            <a:srgbClr val="FFFFFF"/>
                          </a:solidFill>
                          <a:latin typeface="Arial"/>
                          <a:ea typeface="Arial"/>
                          <a:cs typeface="Arial"/>
                        </a:rPr>
                        <a:t>Scientific source</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Use in this project</a:t>
                      </a:r>
                    </a:p>
                  </a:txBody>
                  <a:tcPr marL="91440" marR="91440" marT="45720" marB="45720">
                    <a:solidFill>
                      <a:srgbClr val="2B5F4C"/>
                    </a:solidFill>
                  </a:tcPr>
                </a:tc>
              </a:tr>
              <a:tr h="598714">
                <a:tc>
                  <a:txBody>
                    <a:bodyPr>
                      <a:noAutofit/>
                    </a:bodyPr>
                    <a:lstStyle/>
                    <a:p>
                      <a:r>
                        <a:rPr sz="1650" b="0">
                          <a:solidFill>
                            <a:srgbClr val="183D34"/>
                          </a:solidFill>
                          <a:latin typeface="Arial"/>
                          <a:ea typeface="Arial"/>
                          <a:cs typeface="Arial"/>
                        </a:rPr>
                        <a:t>QMSum · 2021</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Retain relevant discussion and surrounding context</a:t>
                      </a:r>
                    </a:p>
                  </a:txBody>
                  <a:tcPr marL="91440" marR="91440" marT="45720" marB="45720">
                    <a:solidFill>
                      <a:srgbClr val="FFFFFF"/>
                    </a:solidFill>
                  </a:tcPr>
                </a:tc>
              </a:tr>
              <a:tr h="598714">
                <a:tc>
                  <a:txBody>
                    <a:bodyPr>
                      <a:noAutofit/>
                    </a:bodyPr>
                    <a:lstStyle/>
                    <a:p>
                      <a:r>
                        <a:rPr sz="1650" b="0">
                          <a:solidFill>
                            <a:srgbClr val="183D34"/>
                          </a:solidFill>
                          <a:latin typeface="Arial"/>
                          <a:ea typeface="Arial"/>
                          <a:cs typeface="Arial"/>
                        </a:rPr>
                        <a:t>ExplainMeetSum · 2023</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Connect extracted items to supporting segments</a:t>
                      </a:r>
                    </a:p>
                  </a:txBody>
                  <a:tcPr marL="91440" marR="91440" marT="45720" marB="45720">
                    <a:solidFill>
                      <a:srgbClr val="EDF3E5"/>
                    </a:solidFill>
                  </a:tcPr>
                </a:tc>
              </a:tr>
              <a:tr h="598714">
                <a:tc>
                  <a:txBody>
                    <a:bodyPr>
                      <a:noAutofit/>
                    </a:bodyPr>
                    <a:lstStyle/>
                    <a:p>
                      <a:r>
                        <a:rPr sz="1650" b="0">
                          <a:solidFill>
                            <a:srgbClr val="183D34"/>
                          </a:solidFill>
                          <a:latin typeface="Arial"/>
                          <a:ea typeface="Arial"/>
                          <a:cs typeface="Arial"/>
                        </a:rPr>
                        <a:t>MeetingBank · 2023</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Evaluate long-meeting consolidation</a:t>
                      </a:r>
                    </a:p>
                  </a:txBody>
                  <a:tcPr marL="91440" marR="91440" marT="45720" marB="45720">
                    <a:solidFill>
                      <a:srgbClr val="FFFFFF"/>
                    </a:solidFill>
                  </a:tcPr>
                </a:tc>
              </a:tr>
              <a:tr h="598714">
                <a:tc>
                  <a:txBody>
                    <a:bodyPr>
                      <a:noAutofit/>
                    </a:bodyPr>
                    <a:lstStyle/>
                    <a:p>
                      <a:r>
                        <a:rPr sz="1650" b="0">
                          <a:solidFill>
                            <a:srgbClr val="183D34"/>
                          </a:solidFill>
                          <a:latin typeface="Arial"/>
                          <a:ea typeface="Arial"/>
                          <a:cs typeface="Arial"/>
                        </a:rPr>
                        <a:t>SummEval · 2021</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Combine metrics with human factuality assessment</a:t>
                      </a:r>
                    </a:p>
                  </a:txBody>
                  <a:tcPr marL="91440" marR="91440" marT="45720" marB="45720">
                    <a:solidFill>
                      <a:srgbClr val="EDF3E5"/>
                    </a:solidFill>
                  </a:tcPr>
                </a:tc>
              </a:tr>
              <a:tr h="598714">
                <a:tc>
                  <a:txBody>
                    <a:bodyPr>
                      <a:noAutofit/>
                    </a:bodyPr>
                    <a:lstStyle/>
                    <a:p>
                      <a:r>
                        <a:rPr sz="1650" b="0">
                          <a:solidFill>
                            <a:srgbClr val="183D34"/>
                          </a:solidFill>
                          <a:latin typeface="Arial"/>
                          <a:ea typeface="Arial"/>
                          <a:cs typeface="Arial"/>
                        </a:rPr>
                        <a:t>What’s Wrong / MESA · 2025</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Analyse omissions, attribution and unsupported claims</a:t>
                      </a:r>
                    </a:p>
                  </a:txBody>
                  <a:tcPr marL="91440" marR="91440" marT="45720" marB="45720">
                    <a:solidFill>
                      <a:srgbClr val="FFFFFF"/>
                    </a:solidFill>
                  </a:tcPr>
                </a:tc>
              </a:tr>
              <a:tr h="598714">
                <a:tc>
                  <a:txBody>
                    <a:bodyPr>
                      <a:noAutofit/>
                    </a:bodyPr>
                    <a:lstStyle/>
                    <a:p>
                      <a:r>
                        <a:rPr sz="1650" b="0">
                          <a:solidFill>
                            <a:srgbClr val="183D34"/>
                          </a:solidFill>
                          <a:latin typeface="Arial"/>
                          <a:ea typeface="Arial"/>
                          <a:cs typeface="Arial"/>
                        </a:rPr>
                        <a:t>Meetalk · 2025</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Support a human review and correction workflow</a:t>
                      </a:r>
                    </a:p>
                  </a:txBody>
                  <a:tcPr marL="91440" marR="91440" marT="45720" marB="45720">
                    <a:solidFill>
                      <a:srgbClr val="EDF3E5"/>
                    </a:solidFill>
                  </a:tcPr>
                </a:tc>
              </a:tr>
            </a:tbl>
          </a:graphicData>
        </a:graphic>
      </p:graphicFrame>
    </p:spTree>
    <p:extLst>
      <p:ext uri="{BB962C8B-B14F-4D97-AF65-F5344CB8AC3E}">
        <p14:creationId xmlns:p14="http://schemas.microsoft.com/office/powerpoint/2010/main" val="2007611163"/>
      </p:ext>
    </p:extLst>
  </p:cSld>
</p:sld>
</file>

<file path=ppt/slides/slide7.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6DD1A7-1045-416F-BDBC-ED491C457925}"/>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Existing systems and language coverage</a:t>
            </a:r>
          </a:p>
        </p:txBody>
      </p:sp>
      <p:sp>
        <p:nvSpPr>
          <p:cNvPr id="2" name="">
            <a:extLst xmlns:a="http://schemas.openxmlformats.org/drawingml/2006/main">
              <a:ext uri="{FF2B5EF4-FFF2-40B4-BE49-F238E27FC236}">
                <a16:creationId xmlns:a16="http://schemas.microsoft.com/office/drawing/2014/main" id="{EA4A8025-C393-4FBA-A940-A5F924C0182E}"/>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7</a:t>
            </a:r>
          </a:p>
        </p:txBody>
      </p:sp>
      <p:graphicFrame>
        <p:nvGraphicFramePr>
          <p:cNvPr id="9" name=""/>
          <p:cNvGraphicFramePr/>
          <p:nvPr/>
        </p:nvGraphicFramePr>
        <p:xfrm>
          <a:off xmlns:a="http://schemas.openxmlformats.org/drawingml/2006/main" x="609600" y="1476375"/>
          <a:ext xmlns:a="http://schemas.openxmlformats.org/drawingml/2006/main" cx="10972800" cy="3810000"/>
        </p:xfrm>
        <a:graphic xmlns:a="http://schemas.openxmlformats.org/drawingml/2006/main">
          <a:graphicData uri="http://schemas.openxmlformats.org/drawingml/2006/table">
            <a:tbl>
              <a:tblPr/>
              <a:tblGrid>
                <a:gridCol w="3143250"/>
                <a:gridCol w="2609850"/>
                <a:gridCol w="2609850"/>
                <a:gridCol w="2609850"/>
              </a:tblGrid>
              <a:tr h="635000">
                <a:tc>
                  <a:txBody>
                    <a:bodyPr>
                      <a:noAutofit/>
                    </a:bodyPr>
                    <a:lstStyle/>
                    <a:p>
                      <a:r>
                        <a:rPr sz="1650" b="1">
                          <a:solidFill>
                            <a:srgbClr val="FFFFFF"/>
                          </a:solidFill>
                          <a:latin typeface="Arial"/>
                          <a:ea typeface="Arial"/>
                          <a:cs typeface="Arial"/>
                        </a:rPr>
                        <a:t>Criterion</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Fireflies.ai</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Notta</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Otter.ai</a:t>
                      </a:r>
                    </a:p>
                  </a:txBody>
                  <a:tcPr marL="91440" marR="91440" marT="45720" marB="45720">
                    <a:solidFill>
                      <a:srgbClr val="2B5F4C"/>
                    </a:solidFill>
                  </a:tcPr>
                </a:tc>
              </a:tr>
              <a:tr h="635000">
                <a:tc>
                  <a:txBody>
                    <a:bodyPr>
                      <a:noAutofit/>
                    </a:bodyPr>
                    <a:lstStyle/>
                    <a:p>
                      <a:r>
                        <a:rPr sz="1650" b="0">
                          <a:solidFill>
                            <a:srgbClr val="183D34"/>
                          </a:solidFill>
                          <a:latin typeface="Arial"/>
                          <a:ea typeface="Arial"/>
                          <a:cs typeface="Arial"/>
                        </a:rPr>
                        <a:t>Recording upload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Documented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Documented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Documented</a:t>
                      </a:r>
                    </a:p>
                  </a:txBody>
                  <a:tcPr marL="91440" marR="91440" marT="45720" marB="45720">
                    <a:solidFill>
                      <a:srgbClr val="FFFFFF"/>
                    </a:solidFill>
                  </a:tcPr>
                </a:tc>
              </a:tr>
              <a:tr h="635000">
                <a:tc>
                  <a:txBody>
                    <a:bodyPr>
                      <a:noAutofit/>
                    </a:bodyPr>
                    <a:lstStyle/>
                    <a:p>
                      <a:r>
                        <a:rPr sz="1650" b="0">
                          <a:solidFill>
                            <a:srgbClr val="183D34"/>
                          </a:solidFill>
                          <a:latin typeface="Arial"/>
                          <a:ea typeface="Arial"/>
                          <a:cs typeface="Arial"/>
                        </a:rPr>
                        <a:t>Kazakh source ASR</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Listed</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Not listed</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Not listed</a:t>
                      </a:r>
                    </a:p>
                  </a:txBody>
                  <a:tcPr marL="91440" marR="91440" marT="45720" marB="45720">
                    <a:solidFill>
                      <a:srgbClr val="EDF3E5"/>
                    </a:solidFill>
                  </a:tcPr>
                </a:tc>
              </a:tr>
              <a:tr h="635000">
                <a:tc>
                  <a:txBody>
                    <a:bodyPr>
                      <a:noAutofit/>
                    </a:bodyPr>
                    <a:lstStyle/>
                    <a:p>
                      <a:r>
                        <a:rPr sz="1650" b="0">
                          <a:solidFill>
                            <a:srgbClr val="183D34"/>
                          </a:solidFill>
                          <a:latin typeface="Arial"/>
                          <a:ea typeface="Arial"/>
                          <a:cs typeface="Arial"/>
                        </a:rPr>
                        <a:t>Russian source ASR</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Listed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Listed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Not listed</a:t>
                      </a:r>
                    </a:p>
                  </a:txBody>
                  <a:tcPr marL="91440" marR="91440" marT="45720" marB="45720">
                    <a:solidFill>
                      <a:srgbClr val="FFFFFF"/>
                    </a:solidFill>
                  </a:tcPr>
                </a:tc>
              </a:tr>
              <a:tr h="635000">
                <a:tc>
                  <a:txBody>
                    <a:bodyPr>
                      <a:noAutofit/>
                    </a:bodyPr>
                    <a:lstStyle/>
                    <a:p>
                      <a:r>
                        <a:rPr sz="1650" b="0">
                          <a:solidFill>
                            <a:srgbClr val="183D34"/>
                          </a:solidFill>
                          <a:latin typeface="Arial"/>
                          <a:ea typeface="Arial"/>
                          <a:cs typeface="Arial"/>
                        </a:rPr>
                        <a:t>Kazakh–Russian mixed</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Pair unverified</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Kazakh not listed</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Neither listed</a:t>
                      </a:r>
                    </a:p>
                  </a:txBody>
                  <a:tcPr marL="91440" marR="91440" marT="45720" marB="45720">
                    <a:solidFill>
                      <a:srgbClr val="EDF3E5"/>
                    </a:solidFill>
                  </a:tcPr>
                </a:tc>
              </a:tr>
              <a:tr h="635000">
                <a:tc>
                  <a:txBody>
                    <a:bodyPr>
                      <a:noAutofit/>
                    </a:bodyPr>
                    <a:lstStyle/>
                    <a:p>
                      <a:r>
                        <a:rPr sz="1650" b="0">
                          <a:solidFill>
                            <a:srgbClr val="183D34"/>
                          </a:solidFill>
                          <a:latin typeface="Arial"/>
                          <a:ea typeface="Arial"/>
                          <a:cs typeface="Arial"/>
                        </a:rPr>
                        <a:t>Summary and actions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Documented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Documented</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Documented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00423DB-7F69-4A79-ADB1-22FC5A289447}"/>
              </a:ext>
            </a:extLst>
          </p:cNvPr>
          <p:cNvSpPr>
            <a:spLocks xmlns:a="http://schemas.openxmlformats.org/drawingml/2006/main" noGrp="1"/>
          </p:cNvSpPr>
          <p:nvPr/>
        </p:nvSpPr>
        <p:spPr>
          <a:xfrm xmlns:a="http://schemas.openxmlformats.org/drawingml/2006/main">
            <a:off x="628650" y="56197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D7167"/>
                </a:solidFill>
                <a:latin typeface="Arial"/>
                <a:ea typeface="Arial"/>
                <a:cs typeface="Arial"/>
              </a:defRPr>
            </a:pPr>
            <a:r>
              <a:rPr sz="1800" b="0">
                <a:solidFill>
                  <a:srgbClr val="5D7167"/>
                </a:solidFill>
                <a:latin typeface="Arial"/>
                <a:ea typeface="Arial"/>
                <a:cs typeface="Arial"/>
              </a:rPr>
              <a:t>Kazakh translation is not Kazakh audio recognition. The language pair alone is not a uniqueness claim.</a:t>
            </a:r>
          </a:p>
        </p:txBody>
      </p:sp>
    </p:spTree>
    <p:extLst>
      <p:ext uri="{BB962C8B-B14F-4D97-AF65-F5344CB8AC3E}">
        <p14:creationId xmlns:p14="http://schemas.microsoft.com/office/powerpoint/2010/main" val="2027633965"/>
      </p:ext>
    </p:extLst>
  </p:cSld>
</p:sld>
</file>

<file path=ppt/slides/slide8.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350781-E294-4544-ADD9-28CF2D2DBFEA}"/>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Existing systems and review controls</a:t>
            </a:r>
          </a:p>
        </p:txBody>
      </p:sp>
      <p:sp>
        <p:nvSpPr>
          <p:cNvPr id="2" name="">
            <a:extLst xmlns:a="http://schemas.openxmlformats.org/drawingml/2006/main">
              <a:ext uri="{FF2B5EF4-FFF2-40B4-BE49-F238E27FC236}">
                <a16:creationId xmlns:a16="http://schemas.microsoft.com/office/drawing/2014/main" id="{64A6A665-B80D-477A-9B1F-C6B2E5DDD951}"/>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8</a:t>
            </a:r>
          </a:p>
        </p:txBody>
      </p:sp>
      <p:graphicFrame>
        <p:nvGraphicFramePr>
          <p:cNvPr id="9" name=""/>
          <p:cNvGraphicFramePr/>
          <p:nvPr/>
        </p:nvGraphicFramePr>
        <p:xfrm>
          <a:off xmlns:a="http://schemas.openxmlformats.org/drawingml/2006/main" x="609600" y="1476375"/>
          <a:ext xmlns:a="http://schemas.openxmlformats.org/drawingml/2006/main" cx="10972800" cy="3810000"/>
        </p:xfrm>
        <a:graphic xmlns:a="http://schemas.openxmlformats.org/drawingml/2006/main">
          <a:graphicData uri="http://schemas.openxmlformats.org/drawingml/2006/table">
            <a:tbl>
              <a:tblPr/>
              <a:tblGrid>
                <a:gridCol w="3381375"/>
                <a:gridCol w="2524125"/>
                <a:gridCol w="2533650"/>
                <a:gridCol w="2533650"/>
              </a:tblGrid>
              <a:tr h="635000">
                <a:tc>
                  <a:txBody>
                    <a:bodyPr>
                      <a:noAutofit/>
                    </a:bodyPr>
                    <a:lstStyle/>
                    <a:p>
                      <a:r>
                        <a:rPr sz="1575" b="1">
                          <a:solidFill>
                            <a:srgbClr val="FFFFFF"/>
                          </a:solidFill>
                          <a:latin typeface="Arial"/>
                          <a:ea typeface="Arial"/>
                          <a:cs typeface="Arial"/>
                        </a:rPr>
                        <a:t>Criterion</a:t>
                      </a:r>
                    </a:p>
                  </a:txBody>
                  <a:tcPr marL="91440" marR="91440" marT="45720" marB="45720">
                    <a:solidFill>
                      <a:srgbClr val="2B5F4C"/>
                    </a:solidFill>
                  </a:tcPr>
                </a:tc>
                <a:tc>
                  <a:txBody>
                    <a:bodyPr>
                      <a:noAutofit/>
                    </a:bodyPr>
                    <a:lstStyle/>
                    <a:p>
                      <a:r>
                        <a:rPr sz="1575" b="1">
                          <a:solidFill>
                            <a:srgbClr val="FFFFFF"/>
                          </a:solidFill>
                          <a:latin typeface="Arial"/>
                          <a:ea typeface="Arial"/>
                          <a:cs typeface="Arial"/>
                        </a:rPr>
                        <a:t>Fireflies.ai</a:t>
                      </a:r>
                    </a:p>
                  </a:txBody>
                  <a:tcPr marL="91440" marR="91440" marT="45720" marB="45720">
                    <a:solidFill>
                      <a:srgbClr val="2B5F4C"/>
                    </a:solidFill>
                  </a:tcPr>
                </a:tc>
                <a:tc>
                  <a:txBody>
                    <a:bodyPr>
                      <a:noAutofit/>
                    </a:bodyPr>
                    <a:lstStyle/>
                    <a:p>
                      <a:r>
                        <a:rPr sz="1575" b="1">
                          <a:solidFill>
                            <a:srgbClr val="FFFFFF"/>
                          </a:solidFill>
                          <a:latin typeface="Arial"/>
                          <a:ea typeface="Arial"/>
                          <a:cs typeface="Arial"/>
                        </a:rPr>
                        <a:t>Notta</a:t>
                      </a:r>
                    </a:p>
                  </a:txBody>
                  <a:tcPr marL="91440" marR="91440" marT="45720" marB="45720">
                    <a:solidFill>
                      <a:srgbClr val="2B5F4C"/>
                    </a:solidFill>
                  </a:tcPr>
                </a:tc>
                <a:tc>
                  <a:txBody>
                    <a:bodyPr>
                      <a:noAutofit/>
                    </a:bodyPr>
                    <a:lstStyle/>
                    <a:p>
                      <a:r>
                        <a:rPr sz="1575" b="1">
                          <a:solidFill>
                            <a:srgbClr val="FFFFFF"/>
                          </a:solidFill>
                          <a:latin typeface="Arial"/>
                          <a:ea typeface="Arial"/>
                          <a:cs typeface="Arial"/>
                        </a:rPr>
                        <a:t>Otter.ai</a:t>
                      </a:r>
                    </a:p>
                  </a:txBody>
                  <a:tcPr marL="91440" marR="91440" marT="45720" marB="45720">
                    <a:solidFill>
                      <a:srgbClr val="2B5F4C"/>
                    </a:solidFill>
                  </a:tcPr>
                </a:tc>
              </a:tr>
              <a:tr h="635000">
                <a:tc>
                  <a:txBody>
                    <a:bodyPr>
                      <a:noAutofit/>
                    </a:bodyPr>
                    <a:lstStyle/>
                    <a:p>
                      <a:r>
                        <a:rPr sz="1575" b="0">
                          <a:solidFill>
                            <a:srgbClr val="183D34"/>
                          </a:solidFill>
                          <a:latin typeface="Arial"/>
                          <a:ea typeface="Arial"/>
                          <a:cs typeface="Arial"/>
                        </a:rPr>
                        <a:t>Editable content</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AI Notes</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Conversations</a:t>
                      </a:r>
                    </a:p>
                  </a:txBody>
                  <a:tcPr marL="91440" marR="91440" marT="45720" marB="45720">
                    <a:solidFill>
                      <a:srgbClr val="FFFFFF"/>
                    </a:solidFill>
                  </a:tcPr>
                </a:tc>
              </a:tr>
              <a:tr h="635000">
                <a:tc>
                  <a:txBody>
                    <a:bodyPr>
                      <a:noAutofit/>
                    </a:bodyPr>
                    <a:lstStyle/>
                    <a:p>
                      <a:r>
                        <a:rPr sz="1575" b="0">
                          <a:solidFill>
                            <a:srgbClr val="183D34"/>
                          </a:solidFill>
                          <a:latin typeface="Arial"/>
                          <a:ea typeface="Arial"/>
                          <a:cs typeface="Arial"/>
                        </a:rPr>
                        <a:t>Export</a:t>
                      </a:r>
                    </a:p>
                  </a:txBody>
                  <a:tcPr marL="91440" marR="91440" marT="45720" marB="45720">
                    <a:solidFill>
                      <a:srgbClr val="EDF3E5"/>
                    </a:solidFill>
                  </a:tcPr>
                </a:tc>
                <a:tc>
                  <a:txBody>
                    <a:bodyPr>
                      <a:noAutofit/>
                    </a:bodyPr>
                    <a:lstStyle/>
                    <a:p>
                      <a:r>
                        <a:rPr sz="1575" b="0">
                          <a:solidFill>
                            <a:srgbClr val="183D34"/>
                          </a:solidFill>
                          <a:latin typeface="Arial"/>
                          <a:ea typeface="Arial"/>
                          <a:cs typeface="Arial"/>
                        </a:rPr>
                        <a:t>Documented</a:t>
                      </a:r>
                    </a:p>
                  </a:txBody>
                  <a:tcPr marL="91440" marR="91440" marT="45720" marB="45720">
                    <a:solidFill>
                      <a:srgbClr val="EDF3E5"/>
                    </a:solidFill>
                  </a:tcPr>
                </a:tc>
                <a:tc>
                  <a:txBody>
                    <a:bodyPr>
                      <a:noAutofit/>
                    </a:bodyPr>
                    <a:lstStyle/>
                    <a:p>
                      <a:r>
                        <a:rPr sz="1575" b="0">
                          <a:solidFill>
                            <a:srgbClr val="183D34"/>
                          </a:solidFill>
                          <a:latin typeface="Arial"/>
                          <a:ea typeface="Arial"/>
                          <a:cs typeface="Arial"/>
                        </a:rPr>
                        <a:t>Documented</a:t>
                      </a:r>
                    </a:p>
                  </a:txBody>
                  <a:tcPr marL="91440" marR="91440" marT="45720" marB="45720">
                    <a:solidFill>
                      <a:srgbClr val="EDF3E5"/>
                    </a:solidFill>
                  </a:tcPr>
                </a:tc>
                <a:tc>
                  <a:txBody>
                    <a:bodyPr>
                      <a:noAutofit/>
                    </a:bodyPr>
                    <a:lstStyle/>
                    <a:p>
                      <a:r>
                        <a:rPr sz="1575" b="0">
                          <a:solidFill>
                            <a:srgbClr val="183D34"/>
                          </a:solidFill>
                          <a:latin typeface="Arial"/>
                          <a:ea typeface="Arial"/>
                          <a:cs typeface="Arial"/>
                        </a:rPr>
                        <a:t>Documented</a:t>
                      </a:r>
                    </a:p>
                  </a:txBody>
                  <a:tcPr marL="91440" marR="91440" marT="45720" marB="45720">
                    <a:solidFill>
                      <a:srgbClr val="EDF3E5"/>
                    </a:solidFill>
                  </a:tcPr>
                </a:tc>
              </a:tr>
              <a:tr h="635000">
                <a:tc>
                  <a:txBody>
                    <a:bodyPr>
                      <a:noAutofit/>
                    </a:bodyPr>
                    <a:lstStyle/>
                    <a:p>
                      <a:r>
                        <a:rPr sz="1575" b="0">
                          <a:solidFill>
                            <a:srgbClr val="183D34"/>
                          </a:solidFill>
                          <a:latin typeface="Arial"/>
                          <a:ea typeface="Arial"/>
                          <a:cs typeface="Arial"/>
                        </a:rPr>
                        <a:t>Item-level source evidence</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r>
              <a:tr h="635000">
                <a:tc>
                  <a:txBody>
                    <a:bodyPr>
                      <a:noAutofit/>
                    </a:bodyPr>
                    <a:lstStyle/>
                    <a:p>
                      <a:r>
                        <a:rPr sz="1575" b="0">
                          <a:solidFill>
                            <a:srgbClr val="183D34"/>
                          </a:solidFill>
                          <a:latin typeface="Arial"/>
                          <a:ea typeface="Arial"/>
                          <a:cs typeface="Arial"/>
                        </a:rPr>
                        <a:t>Revision / approval control</a:t>
                      </a:r>
                    </a:p>
                  </a:txBody>
                  <a:tcPr marL="91440" marR="91440" marT="45720" marB="45720">
                    <a:solidFill>
                      <a:srgbClr val="EDF3E5"/>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EDF3E5"/>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EDF3E5"/>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EDF3E5"/>
                    </a:solidFill>
                  </a:tcPr>
                </a:tc>
              </a:tr>
              <a:tr h="635000">
                <a:tc>
                  <a:txBody>
                    <a:bodyPr>
                      <a:noAutofit/>
                    </a:bodyPr>
                    <a:lstStyle/>
                    <a:p>
                      <a:r>
                        <a:rPr sz="1575" b="0">
                          <a:solidFill>
                            <a:srgbClr val="183D34"/>
                          </a:solidFill>
                          <a:latin typeface="Arial"/>
                          <a:ea typeface="Arial"/>
                          <a:cs typeface="Arial"/>
                        </a:rPr>
                        <a:t>Self-managed inference</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75" b="0">
                          <a:solidFill>
                            <a:srgbClr val="183D34"/>
                          </a:solidFill>
                          <a:latin typeface="Arial"/>
                          <a:ea typeface="Arial"/>
                          <a:cs typeface="Arial"/>
                        </a:rPr>
                        <a:t>Not established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04EA5F-C10A-4838-B71B-66C14F030FFB}"/>
              </a:ext>
            </a:extLst>
          </p:cNvPr>
          <p:cNvSpPr>
            <a:spLocks xmlns:a="http://schemas.openxmlformats.org/drawingml/2006/main" noGrp="1"/>
          </p:cNvSpPr>
          <p:nvPr/>
        </p:nvSpPr>
        <p:spPr>
          <a:xfrm xmlns:a="http://schemas.openxmlformats.org/drawingml/2006/main">
            <a:off x="628650" y="56197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D34"/>
                </a:solidFill>
                <a:latin typeface="Arial"/>
                <a:ea typeface="Arial"/>
                <a:cs typeface="Arial"/>
              </a:defRPr>
            </a:pPr>
            <a:r>
              <a:rPr sz="1800" b="1">
                <a:solidFill>
                  <a:srgbClr val="183D34"/>
                </a:solidFill>
                <a:latin typeface="Arial"/>
                <a:ea typeface="Arial"/>
                <a:cs typeface="Arial"/>
              </a:rPr>
              <a:t>Hattama: local inference, task source IDs, preserved original and editable saved review.</a:t>
            </a:r>
          </a:p>
        </p:txBody>
      </p:sp>
    </p:spTree>
    <p:extLst>
      <p:ext uri="{BB962C8B-B14F-4D97-AF65-F5344CB8AC3E}">
        <p14:creationId xmlns:p14="http://schemas.microsoft.com/office/powerpoint/2010/main" val="1747461581"/>
      </p:ext>
    </p:extLst>
  </p:cSld>
</p:sld>
</file>

<file path=ppt/slides/slide9.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17D35D-CDD3-49B4-A6F1-55B606A4DCB6}"/>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Technology comparison</a:t>
            </a:r>
          </a:p>
        </p:txBody>
      </p:sp>
      <p:sp>
        <p:nvSpPr>
          <p:cNvPr id="2" name="">
            <a:extLst xmlns:a="http://schemas.openxmlformats.org/drawingml/2006/main">
              <a:ext uri="{FF2B5EF4-FFF2-40B4-BE49-F238E27FC236}">
                <a16:creationId xmlns:a16="http://schemas.microsoft.com/office/drawing/2014/main" id="{95B72A3D-0FA7-4ACE-9EB9-2B75F065A89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9</a:t>
            </a:r>
          </a:p>
        </p:txBody>
      </p:sp>
      <p:graphicFrame>
        <p:nvGraphicFramePr>
          <p:cNvPr id="9" name=""/>
          <p:cNvGraphicFramePr/>
          <p:nvPr/>
        </p:nvGraphicFramePr>
        <p:xfrm>
          <a:off xmlns:a="http://schemas.openxmlformats.org/drawingml/2006/main" x="609600" y="1428750"/>
          <a:ext xmlns:a="http://schemas.openxmlformats.org/drawingml/2006/main" cx="10972800" cy="4095750"/>
        </p:xfrm>
        <a:graphic xmlns:a="http://schemas.openxmlformats.org/drawingml/2006/main">
          <a:graphicData uri="http://schemas.openxmlformats.org/drawingml/2006/table">
            <a:tbl>
              <a:tblPr/>
              <a:tblGrid>
                <a:gridCol w="2238375"/>
                <a:gridCol w="4095750"/>
                <a:gridCol w="4638675"/>
              </a:tblGrid>
              <a:tr h="682625">
                <a:tc>
                  <a:txBody>
                    <a:bodyPr>
                      <a:noAutofit/>
                    </a:bodyPr>
                    <a:lstStyle/>
                    <a:p>
                      <a:r>
                        <a:rPr sz="1650" b="1">
                          <a:solidFill>
                            <a:srgbClr val="FFFFFF"/>
                          </a:solidFill>
                          <a:latin typeface="Arial"/>
                          <a:ea typeface="Arial"/>
                          <a:cs typeface="Arial"/>
                        </a:rPr>
                        <a:t>Decision</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Current baseline</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Reasonable alternatives</a:t>
                      </a:r>
                    </a:p>
                  </a:txBody>
                  <a:tcPr marL="91440" marR="91440" marT="45720" marB="45720">
                    <a:solidFill>
                      <a:srgbClr val="2B5F4C"/>
                    </a:solidFill>
                  </a:tcPr>
                </a:tc>
              </a:tr>
              <a:tr h="682625">
                <a:tc>
                  <a:txBody>
                    <a:bodyPr>
                      <a:noAutofit/>
                    </a:bodyPr>
                    <a:lstStyle/>
                    <a:p>
                      <a:r>
                        <a:rPr sz="1650" b="0">
                          <a:solidFill>
                            <a:srgbClr val="183D34"/>
                          </a:solidFill>
                          <a:latin typeface="Arial"/>
                          <a:ea typeface="Arial"/>
                          <a:cs typeface="Arial"/>
                        </a:rPr>
                        <a:t>Server / client</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FastAPI / React</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Django + DRF / NestJS</a:t>
                      </a:r>
                    </a:p>
                  </a:txBody>
                  <a:tcPr marL="91440" marR="91440" marT="45720" marB="45720">
                    <a:solidFill>
                      <a:srgbClr val="FFFFFF"/>
                    </a:solidFill>
                  </a:tcPr>
                </a:tc>
              </a:tr>
              <a:tr h="682625">
                <a:tc>
                  <a:txBody>
                    <a:bodyPr>
                      <a:noAutofit/>
                    </a:bodyPr>
                    <a:lstStyle/>
                    <a:p>
                      <a:r>
                        <a:rPr sz="1650" b="0">
                          <a:solidFill>
                            <a:srgbClr val="183D34"/>
                          </a:solidFill>
                          <a:latin typeface="Arial"/>
                          <a:ea typeface="Arial"/>
                          <a:cs typeface="Arial"/>
                        </a:rPr>
                        <a:t>Data storage</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SQLite WAL + local files</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PostgreSQL / JSON files</a:t>
                      </a:r>
                    </a:p>
                  </a:txBody>
                  <a:tcPr marL="91440" marR="91440" marT="45720" marB="45720">
                    <a:solidFill>
                      <a:srgbClr val="EDF3E5"/>
                    </a:solidFill>
                  </a:tcPr>
                </a:tc>
              </a:tr>
              <a:tr h="682625">
                <a:tc>
                  <a:txBody>
                    <a:bodyPr>
                      <a:noAutofit/>
                    </a:bodyPr>
                    <a:lstStyle/>
                    <a:p>
                      <a:r>
                        <a:rPr sz="1650" b="0">
                          <a:solidFill>
                            <a:srgbClr val="183D34"/>
                          </a:solidFill>
                          <a:latin typeface="Arial"/>
                          <a:ea typeface="Arial"/>
                          <a:cs typeface="Arial"/>
                        </a:rPr>
                        <a:t>Job execution</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Persisted jobs + one worker</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Celery + Redis / in-process task</a:t>
                      </a:r>
                    </a:p>
                  </a:txBody>
                  <a:tcPr marL="91440" marR="91440" marT="45720" marB="45720">
                    <a:solidFill>
                      <a:srgbClr val="FFFFFF"/>
                    </a:solidFill>
                  </a:tcPr>
                </a:tc>
              </a:tr>
              <a:tr h="682625">
                <a:tc>
                  <a:txBody>
                    <a:bodyPr>
                      <a:noAutofit/>
                    </a:bodyPr>
                    <a:lstStyle/>
                    <a:p>
                      <a:r>
                        <a:rPr sz="1650" b="0">
                          <a:solidFill>
                            <a:srgbClr val="183D34"/>
                          </a:solidFill>
                          <a:latin typeface="Arial"/>
                          <a:ea typeface="Arial"/>
                          <a:cs typeface="Arial"/>
                        </a:rPr>
                        <a:t>Speech recognition</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Kazakh–Russian mixed-CTC</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Whisper turbo / Kazakh-turbo</a:t>
                      </a:r>
                    </a:p>
                  </a:txBody>
                  <a:tcPr marL="91440" marR="91440" marT="45720" marB="45720">
                    <a:solidFill>
                      <a:srgbClr val="EDF3E5"/>
                    </a:solidFill>
                  </a:tcPr>
                </a:tc>
              </a:tr>
              <a:tr h="682625">
                <a:tc>
                  <a:txBody>
                    <a:bodyPr>
                      <a:noAutofit/>
                    </a:bodyPr>
                    <a:lstStyle/>
                    <a:p>
                      <a:r>
                        <a:rPr sz="1650" b="0">
                          <a:solidFill>
                            <a:srgbClr val="183D34"/>
                          </a:solidFill>
                          <a:latin typeface="Arial"/>
                          <a:ea typeface="Arial"/>
                          <a:cs typeface="Arial"/>
                        </a:rPr>
                        <a:t>Speaker attribution</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sherpa ONNX</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pyannote.audio / manual labels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36D10D2-1275-483C-A6DF-3FB442E02816}"/>
              </a:ext>
            </a:extLst>
          </p:cNvPr>
          <p:cNvSpPr>
            <a:spLocks xmlns:a="http://schemas.openxmlformats.org/drawingml/2006/main" noGrp="1"/>
          </p:cNvSpPr>
          <p:nvPr/>
        </p:nvSpPr>
        <p:spPr>
          <a:xfrm xmlns:a="http://schemas.openxmlformats.org/drawingml/2006/main">
            <a:off x="628650" y="5762625"/>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D7167"/>
                </a:solidFill>
                <a:latin typeface="Arial"/>
                <a:ea typeface="Arial"/>
                <a:cs typeface="Arial"/>
              </a:defRPr>
            </a:pPr>
            <a:r>
              <a:rPr sz="1725" b="0">
                <a:solidFill>
                  <a:srgbClr val="5D7167"/>
                </a:solidFill>
                <a:latin typeface="Arial"/>
                <a:ea typeface="Arial"/>
                <a:cs typeface="Arial"/>
              </a:rPr>
              <a:t>Keep the working local stack; reconsider distributed services only when deployment needs justify them.</a:t>
            </a:r>
          </a:p>
        </p:txBody>
      </p:sp>
    </p:spTree>
    <p:extLst>
      <p:ext uri="{BB962C8B-B14F-4D97-AF65-F5344CB8AC3E}">
        <p14:creationId xmlns:p14="http://schemas.microsoft.com/office/powerpoint/2010/main" val="643124589"/>
      </p:ext>
    </p:extLst>
  </p:cSld>
</p:sld>
</file>

<file path=ppt/slides/slide10.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E3F6BB-F176-4F52-8085-206F1DDE036B}"/>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Neural model comparison</a:t>
            </a:r>
          </a:p>
        </p:txBody>
      </p:sp>
      <p:sp>
        <p:nvSpPr>
          <p:cNvPr id="2" name="">
            <a:extLst xmlns:a="http://schemas.openxmlformats.org/drawingml/2006/main">
              <a:ext uri="{FF2B5EF4-FFF2-40B4-BE49-F238E27FC236}">
                <a16:creationId xmlns:a16="http://schemas.microsoft.com/office/drawing/2014/main" id="{FDEC74EA-ACB5-46C8-9E2E-E3606D0941D8}"/>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8DA28ED5-D17E-4074-AE0C-ED3AC1D497AE}"/>
              </a:ext>
            </a:extLst>
          </p:cNvPr>
          <p:cNvSpPr>
            <a:spLocks xmlns:a="http://schemas.openxmlformats.org/drawingml/2006/main" noGrp="1"/>
          </p:cNvSpPr>
          <p:nvPr/>
        </p:nvSpPr>
        <p:spPr>
          <a:xfrm xmlns:a="http://schemas.openxmlformats.org/drawingml/2006/main">
            <a:off x="628650" y="523875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D34"/>
                </a:solidFill>
                <a:latin typeface="Arial"/>
                <a:ea typeface="Arial"/>
                <a:cs typeface="Arial"/>
              </a:defRPr>
            </a:pPr>
            <a:r>
              <a:rPr sz="1875" b="0">
                <a:solidFill>
                  <a:srgbClr val="183D34"/>
                </a:solidFill>
                <a:latin typeface="Arial"/>
                <a:ea typeface="Arial"/>
                <a:cs typeface="Arial"/>
              </a:rPr>
              <a:t>Compare on identical transcripts: factuality, task recall, latency and peak memory.</a:t>
            </a:r>
          </a:p>
          <a:p xmlns:a="http://schemas.openxmlformats.org/drawingml/2006/main">
            <a:pPr>
              <a:buNone/>
              <a:defRPr sz="1875" b="0">
                <a:solidFill>
                  <a:srgbClr val="183D34"/>
                </a:solidFill>
                <a:latin typeface="Arial"/>
                <a:ea typeface="Arial"/>
                <a:cs typeface="Arial"/>
              </a:defRPr>
            </a:pPr>
            <a:r>
              <a:rPr sz="1875" b="0">
                <a:solidFill>
                  <a:srgbClr val="183D34"/>
                </a:solidFill>
                <a:latin typeface="Arial"/>
                <a:ea typeface="Arial"/>
                <a:cs typeface="Arial"/>
              </a:rPr>
              <a:t>Select by measured results; report candidates that cannot fit as infeasible.</a:t>
            </a:r>
          </a:p>
        </p:txBody>
      </p:sp>
      <p:graphicFrame>
        <p:nvGraphicFramePr>
          <p:cNvPr id="10" name=""/>
          <p:cNvGraphicFramePr/>
          <p:nvPr/>
        </p:nvGraphicFramePr>
        <p:xfrm>
          <a:off xmlns:a="http://schemas.openxmlformats.org/drawingml/2006/main" x="609600" y="1476375"/>
          <a:ext xmlns:a="http://schemas.openxmlformats.org/drawingml/2006/main" cx="10972800" cy="3333750"/>
        </p:xfrm>
        <a:graphic xmlns:a="http://schemas.openxmlformats.org/drawingml/2006/main">
          <a:graphicData uri="http://schemas.openxmlformats.org/drawingml/2006/table">
            <a:tbl>
              <a:tblPr/>
              <a:tblGrid>
                <a:gridCol w="3524250"/>
                <a:gridCol w="7448550"/>
              </a:tblGrid>
              <a:tr h="666750">
                <a:tc>
                  <a:txBody>
                    <a:bodyPr>
                      <a:noAutofit/>
                    </a:bodyPr>
                    <a:lstStyle/>
                    <a:p>
                      <a:r>
                        <a:rPr sz="1800" b="1">
                          <a:solidFill>
                            <a:srgbClr val="FFFFFF"/>
                          </a:solidFill>
                          <a:latin typeface="Arial"/>
                          <a:ea typeface="Arial"/>
                          <a:cs typeface="Arial"/>
                        </a:rPr>
                        <a:t>Model</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Role and evaluation concern</a:t>
                      </a:r>
                    </a:p>
                  </a:txBody>
                  <a:tcPr marL="91440" marR="91440" marT="45720" marB="45720">
                    <a:solidFill>
                      <a:srgbClr val="2B5F4C"/>
                    </a:solidFill>
                  </a:tcPr>
                </a:tc>
              </a:tr>
              <a:tr h="666750">
                <a:tc>
                  <a:txBody>
                    <a:bodyPr>
                      <a:noAutofit/>
                    </a:bodyPr>
                    <a:lstStyle/>
                    <a:p>
                      <a:r>
                        <a:rPr sz="1800" b="0">
                          <a:solidFill>
                            <a:srgbClr val="183D34"/>
                          </a:solidFill>
                          <a:latin typeface="Arial"/>
                          <a:ea typeface="Arial"/>
                          <a:cs typeface="Arial"/>
                        </a:rPr>
                        <a:t>Qwen3-4B · 4-bit</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Integrated baseline; validate omissions and schema reliability</a:t>
                      </a:r>
                    </a:p>
                  </a:txBody>
                  <a:tcPr marL="91440" marR="91440" marT="45720" marB="45720">
                    <a:solidFill>
                      <a:srgbClr val="FFFFFF"/>
                    </a:solidFill>
                  </a:tcPr>
                </a:tc>
              </a:tr>
              <a:tr h="666750">
                <a:tc>
                  <a:txBody>
                    <a:bodyPr>
                      <a:noAutofit/>
                    </a:bodyPr>
                    <a:lstStyle/>
                    <a:p>
                      <a:r>
                        <a:rPr sz="1800" b="0">
                          <a:solidFill>
                            <a:srgbClr val="183D34"/>
                          </a:solidFill>
                          <a:latin typeface="Arial"/>
                          <a:ea typeface="Arial"/>
                          <a:cs typeface="Arial"/>
                        </a:rPr>
                        <a:t>Llama 3.1 · 8B</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Candidate; Kazakh/Russian quality needs direct validation</a:t>
                      </a:r>
                    </a:p>
                  </a:txBody>
                  <a:tcPr marL="91440" marR="91440" marT="45720" marB="45720">
                    <a:solidFill>
                      <a:srgbClr val="EDF3E5"/>
                    </a:solidFill>
                  </a:tcPr>
                </a:tc>
              </a:tr>
              <a:tr h="666750">
                <a:tc>
                  <a:txBody>
                    <a:bodyPr>
                      <a:noAutofit/>
                    </a:bodyPr>
                    <a:lstStyle/>
                    <a:p>
                      <a:r>
                        <a:rPr sz="1800" b="0">
                          <a:solidFill>
                            <a:srgbClr val="183D34"/>
                          </a:solidFill>
                          <a:latin typeface="Arial"/>
                          <a:ea typeface="Arial"/>
                          <a:cs typeface="Arial"/>
                        </a:rPr>
                        <a:t>Gemma 3 · 12B</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Multilingual candidate; greater local memory demand</a:t>
                      </a:r>
                    </a:p>
                  </a:txBody>
                  <a:tcPr marL="91440" marR="91440" marT="45720" marB="45720">
                    <a:solidFill>
                      <a:srgbClr val="FFFFFF"/>
                    </a:solidFill>
                  </a:tcPr>
                </a:tc>
              </a:tr>
              <a:tr h="666750">
                <a:tc>
                  <a:txBody>
                    <a:bodyPr>
                      <a:noAutofit/>
                    </a:bodyPr>
                    <a:lstStyle/>
                    <a:p>
                      <a:r>
                        <a:rPr sz="1800" b="0">
                          <a:solidFill>
                            <a:srgbClr val="183D34"/>
                          </a:solidFill>
                          <a:latin typeface="Arial"/>
                          <a:ea typeface="Arial"/>
                          <a:cs typeface="Arial"/>
                        </a:rPr>
                        <a:t>Nemotron 3 Nano · 30B A3B</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MoE candidate; 3B active does not mean 3B stored weights</a:t>
                      </a:r>
                    </a:p>
                  </a:txBody>
                  <a:tcPr marL="91440" marR="91440" marT="45720" marB="45720">
                    <a:solidFill>
                      <a:srgbClr val="EDF3E5"/>
                    </a:solidFill>
                  </a:tcPr>
                </a:tc>
              </a:tr>
            </a:tbl>
          </a:graphicData>
        </a:graphic>
      </p:graphicFrame>
    </p:spTree>
    <p:extLst>
      <p:ext uri="{BB962C8B-B14F-4D97-AF65-F5344CB8AC3E}">
        <p14:creationId xmlns:p14="http://schemas.microsoft.com/office/powerpoint/2010/main" val="286013118"/>
      </p:ext>
    </p:extLst>
  </p:cSld>
</p:sld>
</file>

<file path=ppt/slides/slide11.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EFDAD7-DD00-41F1-AED5-9156FBAD6502}"/>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Requirements and acceptance criteria</a:t>
            </a:r>
          </a:p>
        </p:txBody>
      </p:sp>
      <p:sp>
        <p:nvSpPr>
          <p:cNvPr id="2" name="">
            <a:extLst xmlns:a="http://schemas.openxmlformats.org/drawingml/2006/main">
              <a:ext uri="{FF2B5EF4-FFF2-40B4-BE49-F238E27FC236}">
                <a16:creationId xmlns:a16="http://schemas.microsoft.com/office/drawing/2014/main" id="{618C4EA9-0886-4E4A-8B66-CC202468A48F}"/>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11</a:t>
            </a:r>
          </a:p>
        </p:txBody>
      </p:sp>
      <p:graphicFrame>
        <p:nvGraphicFramePr>
          <p:cNvPr id="9" name=""/>
          <p:cNvGraphicFramePr/>
          <p:nvPr/>
        </p:nvGraphicFramePr>
        <p:xfrm>
          <a:off xmlns:a="http://schemas.openxmlformats.org/drawingml/2006/main" x="609600" y="1476375"/>
          <a:ext xmlns:a="http://schemas.openxmlformats.org/drawingml/2006/main" cx="10972800" cy="3952875"/>
        </p:xfrm>
        <a:graphic xmlns:a="http://schemas.openxmlformats.org/drawingml/2006/main">
          <a:graphicData uri="http://schemas.openxmlformats.org/drawingml/2006/table">
            <a:tbl>
              <a:tblPr/>
              <a:tblGrid>
                <a:gridCol w="3524250"/>
                <a:gridCol w="7448550"/>
              </a:tblGrid>
              <a:tr h="658813">
                <a:tc>
                  <a:txBody>
                    <a:bodyPr>
                      <a:noAutofit/>
                    </a:bodyPr>
                    <a:lstStyle/>
                    <a:p>
                      <a:r>
                        <a:rPr sz="1725" b="1">
                          <a:solidFill>
                            <a:srgbClr val="FFFFFF"/>
                          </a:solidFill>
                          <a:latin typeface="Arial"/>
                          <a:ea typeface="Arial"/>
                          <a:cs typeface="Arial"/>
                        </a:rPr>
                        <a:t>Requirement</a:t>
                      </a:r>
                    </a:p>
                  </a:txBody>
                  <a:tcPr marL="91440" marR="91440" marT="45720" marB="45720">
                    <a:solidFill>
                      <a:srgbClr val="2B5F4C"/>
                    </a:solidFill>
                  </a:tcPr>
                </a:tc>
                <a:tc>
                  <a:txBody>
                    <a:bodyPr>
                      <a:noAutofit/>
                    </a:bodyPr>
                    <a:lstStyle/>
                    <a:p>
                      <a:r>
                        <a:rPr sz="1725" b="1">
                          <a:solidFill>
                            <a:srgbClr val="FFFFFF"/>
                          </a:solidFill>
                          <a:latin typeface="Arial"/>
                          <a:ea typeface="Arial"/>
                          <a:cs typeface="Arial"/>
                        </a:rPr>
                        <a:t>Acceptance example</a:t>
                      </a:r>
                    </a:p>
                  </a:txBody>
                  <a:tcPr marL="91440" marR="91440" marT="45720" marB="45720">
                    <a:solidFill>
                      <a:srgbClr val="2B5F4C"/>
                    </a:solidFill>
                  </a:tcPr>
                </a:tc>
              </a:tr>
              <a:tr h="658813">
                <a:tc>
                  <a:txBody>
                    <a:bodyPr>
                      <a:noAutofit/>
                    </a:bodyPr>
                    <a:lstStyle/>
                    <a:p>
                      <a:r>
                        <a:rPr sz="1725" b="0">
                          <a:solidFill>
                            <a:srgbClr val="183D34"/>
                          </a:solidFill>
                          <a:latin typeface="Arial"/>
                          <a:ea typeface="Arial"/>
                          <a:cs typeface="Arial"/>
                        </a:rPr>
                        <a:t>Uploaded source</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Accept supported formats within configured size; reject invalid input</a:t>
                      </a:r>
                    </a:p>
                  </a:txBody>
                  <a:tcPr marL="91440" marR="91440" marT="45720" marB="45720">
                    <a:solidFill>
                      <a:srgbClr val="FFFFFF"/>
                    </a:solidFill>
                  </a:tcPr>
                </a:tc>
              </a:tr>
              <a:tr h="658813">
                <a:tc>
                  <a:txBody>
                    <a:bodyPr>
                      <a:noAutofit/>
                    </a:bodyPr>
                    <a:lstStyle/>
                    <a:p>
                      <a:r>
                        <a:rPr sz="1725" b="0">
                          <a:solidFill>
                            <a:srgbClr val="183D34"/>
                          </a:solidFill>
                          <a:latin typeface="Arial"/>
                          <a:ea typeface="Arial"/>
                          <a:cs typeface="Arial"/>
                        </a:rPr>
                        <a:t>Task evidence and unknowns</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Validate segment IDs; absent owner/date remains null</a:t>
                      </a:r>
                    </a:p>
                  </a:txBody>
                  <a:tcPr marL="91440" marR="91440" marT="45720" marB="45720">
                    <a:solidFill>
                      <a:srgbClr val="EDF3E5"/>
                    </a:solidFill>
                  </a:tcPr>
                </a:tc>
              </a:tr>
              <a:tr h="658813">
                <a:tc>
                  <a:txBody>
                    <a:bodyPr>
                      <a:noAutofit/>
                    </a:bodyPr>
                    <a:lstStyle/>
                    <a:p>
                      <a:r>
                        <a:rPr sz="1725" b="0">
                          <a:solidFill>
                            <a:srgbClr val="183D34"/>
                          </a:solidFill>
                          <a:latin typeface="Arial"/>
                          <a:ea typeface="Arial"/>
                          <a:cs typeface="Arial"/>
                        </a:rPr>
                        <a:t>Review persistence</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Retain original; save permitted fields; reject stale revision with 409</a:t>
                      </a:r>
                    </a:p>
                  </a:txBody>
                  <a:tcPr marL="91440" marR="91440" marT="45720" marB="45720">
                    <a:solidFill>
                      <a:srgbClr val="FFFFFF"/>
                    </a:solidFill>
                  </a:tcPr>
                </a:tc>
              </a:tr>
              <a:tr h="658813">
                <a:tc>
                  <a:txBody>
                    <a:bodyPr>
                      <a:noAutofit/>
                    </a:bodyPr>
                    <a:lstStyle/>
                    <a:p>
                      <a:r>
                        <a:rPr sz="1725" b="0">
                          <a:solidFill>
                            <a:srgbClr val="183D34"/>
                          </a:solidFill>
                          <a:latin typeface="Arial"/>
                          <a:ea typeface="Arial"/>
                          <a:cs typeface="Arial"/>
                        </a:rPr>
                        <a:t>Export</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DOCX reflects the saved review; unsaved edits block export in UI</a:t>
                      </a:r>
                    </a:p>
                  </a:txBody>
                  <a:tcPr marL="91440" marR="91440" marT="45720" marB="45720">
                    <a:solidFill>
                      <a:srgbClr val="EDF3E5"/>
                    </a:solidFill>
                  </a:tcPr>
                </a:tc>
              </a:tr>
              <a:tr h="658813">
                <a:tc>
                  <a:txBody>
                    <a:bodyPr>
                      <a:noAutofit/>
                    </a:bodyPr>
                    <a:lstStyle/>
                    <a:p>
                      <a:r>
                        <a:rPr sz="1725" b="0">
                          <a:solidFill>
                            <a:srgbClr val="183D34"/>
                          </a:solidFill>
                          <a:latin typeface="Arial"/>
                          <a:ea typeface="Arial"/>
                          <a:cs typeface="Arial"/>
                        </a:rPr>
                        <a:t>Recovery and deletion</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Retry failed jobs; reject deletion of a processing meeting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CDB925-8F53-465F-BB8C-11CC84D8FD01}"/>
              </a:ext>
            </a:extLst>
          </p:cNvPr>
          <p:cNvSpPr>
            <a:spLocks xmlns:a="http://schemas.openxmlformats.org/drawingml/2006/main" noGrp="1"/>
          </p:cNvSpPr>
          <p:nvPr/>
        </p:nvSpPr>
        <p:spPr>
          <a:xfrm xmlns:a="http://schemas.openxmlformats.org/drawingml/2006/main">
            <a:off x="628650" y="58102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D7167"/>
                </a:solidFill>
                <a:latin typeface="Arial"/>
                <a:ea typeface="Arial"/>
                <a:cs typeface="Arial"/>
              </a:defRPr>
            </a:pPr>
            <a:r>
              <a:rPr sz="1725" b="0">
                <a:solidFill>
                  <a:srgbClr val="5D7167"/>
                </a:solidFill>
                <a:latin typeface="Arial"/>
                <a:ea typeface="Arial"/>
                <a:cs typeface="Arial"/>
              </a:rPr>
              <a:t>Future requirements: live capture, complete revision history and shared approval.</a:t>
            </a:r>
          </a:p>
        </p:txBody>
      </p:sp>
    </p:spTree>
    <p:extLst>
      <p:ext uri="{BB962C8B-B14F-4D97-AF65-F5344CB8AC3E}">
        <p14:creationId xmlns:p14="http://schemas.microsoft.com/office/powerpoint/2010/main" val="1755053246"/>
      </p:ext>
    </p:extLst>
  </p:cSld>
</p:sld>
</file>

<file path=ppt/slides/slide12.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135C8D6-3081-47A4-A83A-997FA5175A90}"/>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System context</a:t>
            </a:r>
          </a:p>
        </p:txBody>
      </p:sp>
      <p:sp>
        <p:nvSpPr>
          <p:cNvPr id="2" name="">
            <a:extLst xmlns:a="http://schemas.openxmlformats.org/drawingml/2006/main">
              <a:ext uri="{FF2B5EF4-FFF2-40B4-BE49-F238E27FC236}">
                <a16:creationId xmlns:a16="http://schemas.microsoft.com/office/drawing/2014/main" id="{D7E21F46-157A-4EB7-8F18-5238A80710E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12</a:t>
            </a:r>
          </a:p>
        </p:txBody>
      </p:sp>
      <p:sp>
        <p:nvSpPr>
          <p:cNvPr id="16" name="">
            <a:extLst xmlns:a="http://schemas.openxmlformats.org/drawingml/2006/main">
              <a:ext uri="{FF2B5EF4-FFF2-40B4-BE49-F238E27FC236}">
                <a16:creationId xmlns:a16="http://schemas.microsoft.com/office/drawing/2014/main" id="{BD376C09-2A0D-4917-A1C1-EC1CE34D2C78}"/>
              </a:ext>
            </a:extLst>
          </p:cNvPr>
          <p:cNvSpPr>
            <a:spLocks xmlns:a="http://schemas.openxmlformats.org/drawingml/2006/main" noGrp="1"/>
          </p:cNvSpPr>
          <p:nvPr/>
        </p:nvSpPr>
        <p:spPr>
          <a:xfrm xmlns:a="http://schemas.openxmlformats.org/drawingml/2006/main">
            <a:off x="619125" y="2476500"/>
            <a:ext cx="257175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Local coordinator</a:t>
            </a:r>
          </a:p>
        </p:txBody>
      </p:sp>
      <p:sp>
        <p:nvSpPr>
          <p:cNvPr id="17" name="">
            <a:extLst xmlns:a="http://schemas.openxmlformats.org/drawingml/2006/main">
              <a:ext uri="{FF2B5EF4-FFF2-40B4-BE49-F238E27FC236}">
                <a16:creationId xmlns:a16="http://schemas.microsoft.com/office/drawing/2014/main" id="{37C46027-46CC-4287-B12D-53CF8661E9D6}"/>
              </a:ext>
            </a:extLst>
          </p:cNvPr>
          <p:cNvSpPr>
            <a:spLocks xmlns:a="http://schemas.openxmlformats.org/drawingml/2006/main" noGrp="1"/>
          </p:cNvSpPr>
          <p:nvPr/>
        </p:nvSpPr>
        <p:spPr>
          <a:xfrm xmlns:a="http://schemas.openxmlformats.org/drawingml/2006/main">
            <a:off x="4143375" y="2190750"/>
            <a:ext cx="3905250" cy="1571625"/>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83D34"/>
                </a:solidFill>
                <a:latin typeface="Arial"/>
                <a:ea typeface="Arial"/>
                <a:cs typeface="Arial"/>
              </a:defRPr>
            </a:pPr>
            <a:r>
              <a:rPr sz="2025">
                <a:solidFill>
                  <a:srgbClr val="183D34"/>
                </a:solidFill>
                <a:latin typeface="Arial"/>
                <a:ea typeface="Arial"/>
                <a:cs typeface="Arial"/>
              </a:rPr>
              <a:t>Hattama workstation</a:t>
            </a:r>
          </a:p>
          <a:p xmlns:a="http://schemas.openxmlformats.org/drawingml/2006/main">
            <a:pPr algn="ctr">
              <a:defRPr sz="2025">
                <a:solidFill>
                  <a:srgbClr val="183D34"/>
                </a:solidFill>
                <a:latin typeface="Arial"/>
                <a:ea typeface="Arial"/>
                <a:cs typeface="Arial"/>
              </a:defRPr>
            </a:pPr>
            <a:r>
              <a:rPr sz="2025">
                <a:solidFill>
                  <a:srgbClr val="183D34"/>
                </a:solidFill>
                <a:latin typeface="Arial"/>
                <a:ea typeface="Arial"/>
                <a:cs typeface="Arial"/>
              </a:rPr>
              <a:t>Local neural processing</a:t>
            </a:r>
          </a:p>
          <a:p xmlns:a="http://schemas.openxmlformats.org/drawingml/2006/main">
            <a:pPr algn="ctr">
              <a:defRPr sz="2025">
                <a:solidFill>
                  <a:srgbClr val="183D34"/>
                </a:solidFill>
                <a:latin typeface="Arial"/>
                <a:ea typeface="Arial"/>
                <a:cs typeface="Arial"/>
              </a:defRPr>
            </a:pPr>
            <a:r>
              <a:rPr sz="2025">
                <a:solidFill>
                  <a:srgbClr val="183D34"/>
                </a:solidFill>
                <a:latin typeface="Arial"/>
                <a:ea typeface="Arial"/>
                <a:cs typeface="Arial"/>
              </a:rPr>
              <a:t>Source and review</a:t>
            </a:r>
          </a:p>
        </p:txBody>
      </p:sp>
      <p:sp>
        <p:nvSpPr>
          <p:cNvPr id="18" name="">
            <a:extLst xmlns:a="http://schemas.openxmlformats.org/drawingml/2006/main">
              <a:ext uri="{FF2B5EF4-FFF2-40B4-BE49-F238E27FC236}">
                <a16:creationId xmlns:a16="http://schemas.microsoft.com/office/drawing/2014/main" id="{044418A7-DD79-4FF1-B18B-A6EF6BE7002C}"/>
              </a:ext>
            </a:extLst>
          </p:cNvPr>
          <p:cNvSpPr>
            <a:spLocks xmlns:a="http://schemas.openxmlformats.org/drawingml/2006/main" noGrp="1"/>
          </p:cNvSpPr>
          <p:nvPr/>
        </p:nvSpPr>
        <p:spPr>
          <a:xfrm xmlns:a="http://schemas.openxmlformats.org/drawingml/2006/main">
            <a:off x="9001125" y="2476500"/>
            <a:ext cx="257175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Saved DOCX minutes</a:t>
            </a:r>
          </a:p>
        </p:txBody>
      </p:sp>
      <p:sp>
        <p:nvSpPr>
          <p:cNvPr id="19" name="">
            <a:extLst xmlns:a="http://schemas.openxmlformats.org/drawingml/2006/main">
              <a:ext uri="{FF2B5EF4-FFF2-40B4-BE49-F238E27FC236}">
                <a16:creationId xmlns:a16="http://schemas.microsoft.com/office/drawing/2014/main" id="{B3A48443-0182-44C6-BBAD-8B7FDF130513}"/>
              </a:ext>
            </a:extLst>
          </p:cNvPr>
          <p:cNvSpPr>
            <a:spLocks xmlns:a="http://schemas.openxmlformats.org/drawingml/2006/main" noGrp="1"/>
          </p:cNvSpPr>
          <p:nvPr/>
        </p:nvSpPr>
        <p:spPr>
          <a:xfrm xmlns:a="http://schemas.openxmlformats.org/drawingml/2006/main">
            <a:off x="4286250" y="4762500"/>
            <a:ext cx="3619500" cy="95250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Maintainer</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Models and services</a:t>
            </a:r>
          </a:p>
        </p:txBody>
      </p:sp>
      <p:cxnSp>
        <p:nvCxnSpPr>
          <p:cNvPr id="30" name=""/>
          <p:cNvCxnSpPr>
            <a:stCxn xmlns:a="http://schemas.openxmlformats.org/drawingml/2006/main" id="16" idx="3"/>
            <a:endCxn xmlns:a="http://schemas.openxmlformats.org/drawingml/2006/main" id="17" idx="1"/>
          </p:cNvCxnSpPr>
          <p:nvPr/>
        </p:nvCxnSpPr>
        <p:spPr>
          <a:xfrm xmlns:a="http://schemas.openxmlformats.org/drawingml/2006/main">
            <a:off x="3190875" y="2905125"/>
            <a:ext cx="952500" cy="71438"/>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31" name=""/>
          <p:cNvCxnSpPr>
            <a:stCxn xmlns:a="http://schemas.openxmlformats.org/drawingml/2006/main" id="17" idx="3"/>
            <a:endCxn xmlns:a="http://schemas.openxmlformats.org/drawingml/2006/main" id="18" idx="1"/>
          </p:cNvCxnSpPr>
          <p:nvPr/>
        </p:nvCxnSpPr>
        <p:spPr>
          <a:xfrm xmlns:a="http://schemas.openxmlformats.org/drawingml/2006/main" flipV="1">
            <a:off x="8048625" y="2905125"/>
            <a:ext cx="952500" cy="71438"/>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32" name=""/>
          <p:cNvCxnSpPr>
            <a:stCxn xmlns:a="http://schemas.openxmlformats.org/drawingml/2006/main" id="19" idx="0"/>
            <a:endCxn xmlns:a="http://schemas.openxmlformats.org/drawingml/2006/main" id="17" idx="2"/>
          </p:cNvCxnSpPr>
          <p:nvPr/>
        </p:nvCxnSpPr>
        <p:spPr>
          <a:xfrm xmlns:a="http://schemas.openxmlformats.org/drawingml/2006/main" flipV="1">
            <a:off x="6096000" y="3762375"/>
            <a:ext cx="0" cy="1000125"/>
          </a:xfrm>
          <a:prstGeom xmlns:a="http://schemas.openxmlformats.org/drawingml/2006/main" prst="straightConnector1">
            <a:avLst/>
          </a:prstGeom>
          <a:ln xmlns:a="http://schemas.openxmlformats.org/drawingml/2006/main" w="19050">
            <a:solidFill>
              <a:srgbClr val="5D7FA9"/>
            </a:solidFill>
            <a:tailEnd type="triangle" w="sm" len="sm"/>
          </a:ln>
        </p:spPr>
      </p:cxnSp>
      <p:sp>
        <p:nvSpPr>
          <p:cNvPr id="23" name="">
            <a:extLst xmlns:a="http://schemas.openxmlformats.org/drawingml/2006/main">
              <a:ext uri="{FF2B5EF4-FFF2-40B4-BE49-F238E27FC236}">
                <a16:creationId xmlns:a16="http://schemas.microsoft.com/office/drawing/2014/main" id="{56576112-1543-445A-8930-D8065F40EB7C}"/>
              </a:ext>
            </a:extLst>
          </p:cNvPr>
          <p:cNvSpPr>
            <a:spLocks xmlns:a="http://schemas.openxmlformats.org/drawingml/2006/main" noGrp="1"/>
          </p:cNvSpPr>
          <p:nvPr/>
        </p:nvSpPr>
        <p:spPr>
          <a:xfrm xmlns:a="http://schemas.openxmlformats.org/drawingml/2006/main">
            <a:off x="628650" y="61912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Input: permitted audio recording. Output: human-corrected minutes from the saved revision.</a:t>
            </a:r>
          </a:p>
        </p:txBody>
      </p:sp>
    </p:spTree>
    <p:extLst>
      <p:ext uri="{BB962C8B-B14F-4D97-AF65-F5344CB8AC3E}">
        <p14:creationId xmlns:p14="http://schemas.microsoft.com/office/powerpoint/2010/main" val="973207686"/>
      </p:ext>
    </p:extLst>
  </p:cSld>
</p:sld>
</file>

<file path=ppt/slides/slide13.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427A467-FC54-4B83-BBA0-7A6D0EB12B44}"/>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Core use cases</a:t>
            </a:r>
          </a:p>
        </p:txBody>
      </p:sp>
      <p:sp>
        <p:nvSpPr>
          <p:cNvPr id="2" name="">
            <a:extLst xmlns:a="http://schemas.openxmlformats.org/drawingml/2006/main">
              <a:ext uri="{FF2B5EF4-FFF2-40B4-BE49-F238E27FC236}">
                <a16:creationId xmlns:a16="http://schemas.microsoft.com/office/drawing/2014/main" id="{91FD3277-B6E7-45A8-B75D-99590A039D91}"/>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13</a:t>
            </a:r>
          </a:p>
        </p:txBody>
      </p:sp>
      <p:sp>
        <p:nvSpPr>
          <p:cNvPr id="19" name="">
            <a:extLst xmlns:a="http://schemas.openxmlformats.org/drawingml/2006/main">
              <a:ext uri="{FF2B5EF4-FFF2-40B4-BE49-F238E27FC236}">
                <a16:creationId xmlns:a16="http://schemas.microsoft.com/office/drawing/2014/main" id="{ACC77A86-24EB-48C1-93FB-AA1B0A75EB21}"/>
              </a:ext>
            </a:extLst>
          </p:cNvPr>
          <p:cNvSpPr>
            <a:spLocks xmlns:a="http://schemas.openxmlformats.org/drawingml/2006/main" noGrp="1"/>
          </p:cNvSpPr>
          <p:nvPr/>
        </p:nvSpPr>
        <p:spPr>
          <a:xfrm xmlns:a="http://schemas.openxmlformats.org/drawingml/2006/main">
            <a:off x="5048250" y="3095625"/>
            <a:ext cx="2095500" cy="76200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Local user</a:t>
            </a:r>
          </a:p>
        </p:txBody>
      </p:sp>
      <p:sp>
        <p:nvSpPr>
          <p:cNvPr id="20" name="">
            <a:extLst xmlns:a="http://schemas.openxmlformats.org/drawingml/2006/main">
              <a:ext uri="{FF2B5EF4-FFF2-40B4-BE49-F238E27FC236}">
                <a16:creationId xmlns:a16="http://schemas.microsoft.com/office/drawing/2014/main" id="{7CCCD635-F464-4241-A689-32249AC63CFA}"/>
              </a:ext>
            </a:extLst>
          </p:cNvPr>
          <p:cNvSpPr>
            <a:spLocks xmlns:a="http://schemas.openxmlformats.org/drawingml/2006/main" noGrp="1"/>
          </p:cNvSpPr>
          <p:nvPr/>
        </p:nvSpPr>
        <p:spPr>
          <a:xfrm xmlns:a="http://schemas.openxmlformats.org/drawingml/2006/main">
            <a:off x="619125" y="1571625"/>
            <a:ext cx="3143250" cy="809625"/>
          </a:xfrm>
          <a:prstGeom xmlns:a="http://schemas.openxmlformats.org/drawingml/2006/main" prst="ellipse">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Upload audio</a:t>
            </a:r>
          </a:p>
        </p:txBody>
      </p:sp>
      <p:sp>
        <p:nvSpPr>
          <p:cNvPr id="21" name="">
            <a:extLst xmlns:a="http://schemas.openxmlformats.org/drawingml/2006/main">
              <a:ext uri="{FF2B5EF4-FFF2-40B4-BE49-F238E27FC236}">
                <a16:creationId xmlns:a16="http://schemas.microsoft.com/office/drawing/2014/main" id="{162B295F-BCCB-4DFA-9D34-990DC4763527}"/>
              </a:ext>
            </a:extLst>
          </p:cNvPr>
          <p:cNvSpPr>
            <a:spLocks xmlns:a="http://schemas.openxmlformats.org/drawingml/2006/main" noGrp="1"/>
          </p:cNvSpPr>
          <p:nvPr/>
        </p:nvSpPr>
        <p:spPr>
          <a:xfrm xmlns:a="http://schemas.openxmlformats.org/drawingml/2006/main">
            <a:off x="619125" y="3190875"/>
            <a:ext cx="3143250" cy="809625"/>
          </a:xfrm>
          <a:prstGeom xmlns:a="http://schemas.openxmlformats.org/drawingml/2006/main" prst="ellipse">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D34"/>
                </a:solidFill>
                <a:latin typeface="Arial"/>
                <a:ea typeface="Arial"/>
                <a:cs typeface="Arial"/>
              </a:defRPr>
            </a:pPr>
            <a:r>
              <a:rPr sz="1725">
                <a:solidFill>
                  <a:srgbClr val="183D34"/>
                </a:solidFill>
                <a:latin typeface="Arial"/>
                <a:ea typeface="Arial"/>
                <a:cs typeface="Arial"/>
              </a:rPr>
              <a:t>Read original source</a:t>
            </a:r>
          </a:p>
        </p:txBody>
      </p:sp>
      <p:sp>
        <p:nvSpPr>
          <p:cNvPr id="22" name="">
            <a:extLst xmlns:a="http://schemas.openxmlformats.org/drawingml/2006/main">
              <a:ext uri="{FF2B5EF4-FFF2-40B4-BE49-F238E27FC236}">
                <a16:creationId xmlns:a16="http://schemas.microsoft.com/office/drawing/2014/main" id="{D2FC29E9-2EFB-42BC-B4CF-08E286017DDE}"/>
              </a:ext>
            </a:extLst>
          </p:cNvPr>
          <p:cNvSpPr>
            <a:spLocks xmlns:a="http://schemas.openxmlformats.org/drawingml/2006/main" noGrp="1"/>
          </p:cNvSpPr>
          <p:nvPr/>
        </p:nvSpPr>
        <p:spPr>
          <a:xfrm xmlns:a="http://schemas.openxmlformats.org/drawingml/2006/main">
            <a:off x="619125" y="4810125"/>
            <a:ext cx="3143250" cy="809625"/>
          </a:xfrm>
          <a:prstGeom xmlns:a="http://schemas.openxmlformats.org/drawingml/2006/main" prst="ellipse">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D34"/>
                </a:solidFill>
                <a:latin typeface="Arial"/>
                <a:ea typeface="Arial"/>
                <a:cs typeface="Arial"/>
              </a:defRPr>
            </a:pPr>
            <a:r>
              <a:rPr sz="1725">
                <a:solidFill>
                  <a:srgbClr val="183D34"/>
                </a:solidFill>
                <a:latin typeface="Arial"/>
                <a:ea typeface="Arial"/>
                <a:cs typeface="Arial"/>
              </a:rPr>
              <a:t>Edit review fields</a:t>
            </a:r>
          </a:p>
        </p:txBody>
      </p:sp>
      <p:sp>
        <p:nvSpPr>
          <p:cNvPr id="23" name="">
            <a:extLst xmlns:a="http://schemas.openxmlformats.org/drawingml/2006/main">
              <a:ext uri="{FF2B5EF4-FFF2-40B4-BE49-F238E27FC236}">
                <a16:creationId xmlns:a16="http://schemas.microsoft.com/office/drawing/2014/main" id="{A41D2927-9C84-4452-B478-DD1895F3FABE}"/>
              </a:ext>
            </a:extLst>
          </p:cNvPr>
          <p:cNvSpPr>
            <a:spLocks xmlns:a="http://schemas.openxmlformats.org/drawingml/2006/main" noGrp="1"/>
          </p:cNvSpPr>
          <p:nvPr/>
        </p:nvSpPr>
        <p:spPr>
          <a:xfrm xmlns:a="http://schemas.openxmlformats.org/drawingml/2006/main">
            <a:off x="8239125" y="1571625"/>
            <a:ext cx="3143250" cy="809625"/>
          </a:xfrm>
          <a:prstGeom xmlns:a="http://schemas.openxmlformats.org/drawingml/2006/main" prst="ellipse">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View job status</a:t>
            </a:r>
          </a:p>
        </p:txBody>
      </p:sp>
      <p:sp>
        <p:nvSpPr>
          <p:cNvPr id="24" name="">
            <a:extLst xmlns:a="http://schemas.openxmlformats.org/drawingml/2006/main">
              <a:ext uri="{FF2B5EF4-FFF2-40B4-BE49-F238E27FC236}">
                <a16:creationId xmlns:a16="http://schemas.microsoft.com/office/drawing/2014/main" id="{CCEF1801-CC74-48E7-A055-815AD0B8E6A5}"/>
              </a:ext>
            </a:extLst>
          </p:cNvPr>
          <p:cNvSpPr>
            <a:spLocks xmlns:a="http://schemas.openxmlformats.org/drawingml/2006/main" noGrp="1"/>
          </p:cNvSpPr>
          <p:nvPr/>
        </p:nvSpPr>
        <p:spPr>
          <a:xfrm xmlns:a="http://schemas.openxmlformats.org/drawingml/2006/main">
            <a:off x="8239125" y="3190875"/>
            <a:ext cx="3143250" cy="809625"/>
          </a:xfrm>
          <a:prstGeom xmlns:a="http://schemas.openxmlformats.org/drawingml/2006/main" prst="ellipse">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D34"/>
                </a:solidFill>
                <a:latin typeface="Arial"/>
                <a:ea typeface="Arial"/>
                <a:cs typeface="Arial"/>
              </a:defRPr>
            </a:pPr>
            <a:r>
              <a:rPr sz="1725">
                <a:solidFill>
                  <a:srgbClr val="183D34"/>
                </a:solidFill>
                <a:latin typeface="Arial"/>
                <a:ea typeface="Arial"/>
                <a:cs typeface="Arial"/>
              </a:rPr>
              <a:t>Map speaker labels</a:t>
            </a:r>
          </a:p>
        </p:txBody>
      </p:sp>
      <p:sp>
        <p:nvSpPr>
          <p:cNvPr id="25" name="">
            <a:extLst xmlns:a="http://schemas.openxmlformats.org/drawingml/2006/main">
              <a:ext uri="{FF2B5EF4-FFF2-40B4-BE49-F238E27FC236}">
                <a16:creationId xmlns:a16="http://schemas.microsoft.com/office/drawing/2014/main" id="{BD282AC2-E599-45CA-9AFB-F45A92D492D1}"/>
              </a:ext>
            </a:extLst>
          </p:cNvPr>
          <p:cNvSpPr>
            <a:spLocks xmlns:a="http://schemas.openxmlformats.org/drawingml/2006/main" noGrp="1"/>
          </p:cNvSpPr>
          <p:nvPr/>
        </p:nvSpPr>
        <p:spPr>
          <a:xfrm xmlns:a="http://schemas.openxmlformats.org/drawingml/2006/main">
            <a:off x="8239125" y="4810125"/>
            <a:ext cx="3143250" cy="809625"/>
          </a:xfrm>
          <a:prstGeom xmlns:a="http://schemas.openxmlformats.org/drawingml/2006/main" prst="ellipse">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D34"/>
                </a:solidFill>
                <a:latin typeface="Arial"/>
                <a:ea typeface="Arial"/>
                <a:cs typeface="Arial"/>
              </a:defRPr>
            </a:pPr>
            <a:r>
              <a:rPr sz="1725">
                <a:solidFill>
                  <a:srgbClr val="183D34"/>
                </a:solidFill>
                <a:latin typeface="Arial"/>
                <a:ea typeface="Arial"/>
                <a:cs typeface="Arial"/>
              </a:rPr>
              <a:t>Export saved DOCX</a:t>
            </a:r>
          </a:p>
        </p:txBody>
      </p:sp>
      <p:cxnSp>
        <p:nvCxnSpPr>
          <p:cNvPr id="42" name=""/>
          <p:cNvCxnSpPr>
            <a:stCxn xmlns:a="http://schemas.openxmlformats.org/drawingml/2006/main" id="19" idx="1"/>
            <a:endCxn xmlns:a="http://schemas.openxmlformats.org/drawingml/2006/main" id="20" idx="6"/>
          </p:cNvCxnSpPr>
          <p:nvPr/>
        </p:nvCxnSpPr>
        <p:spPr>
          <a:xfrm xmlns:a="http://schemas.openxmlformats.org/drawingml/2006/main" flipH="1" flipV="1">
            <a:off x="3762375" y="1976438"/>
            <a:ext cx="1285875" cy="1500188"/>
          </a:xfrm>
          <a:prstGeom xmlns:a="http://schemas.openxmlformats.org/drawingml/2006/main" prst="straightConnector1">
            <a:avLst/>
          </a:prstGeom>
          <a:ln xmlns:a="http://schemas.openxmlformats.org/drawingml/2006/main" w="19050">
            <a:solidFill>
              <a:srgbClr val="5D7FA9"/>
            </a:solidFill>
            <a:tailEnd type="none" w="sm" len="sm"/>
          </a:ln>
        </p:spPr>
      </p:cxnSp>
      <p:cxnSp>
        <p:nvCxnSpPr>
          <p:cNvPr id="43" name=""/>
          <p:cNvCxnSpPr>
            <a:stCxn xmlns:a="http://schemas.openxmlformats.org/drawingml/2006/main" id="19" idx="1"/>
            <a:endCxn xmlns:a="http://schemas.openxmlformats.org/drawingml/2006/main" id="21" idx="6"/>
          </p:cNvCxnSpPr>
          <p:nvPr/>
        </p:nvCxnSpPr>
        <p:spPr>
          <a:xfrm xmlns:a="http://schemas.openxmlformats.org/drawingml/2006/main" flipH="1">
            <a:off x="3762375" y="3476625"/>
            <a:ext cx="1285875" cy="119063"/>
          </a:xfrm>
          <a:prstGeom xmlns:a="http://schemas.openxmlformats.org/drawingml/2006/main" prst="straightConnector1">
            <a:avLst/>
          </a:prstGeom>
          <a:ln xmlns:a="http://schemas.openxmlformats.org/drawingml/2006/main" w="19050">
            <a:solidFill>
              <a:srgbClr val="5D7FA9"/>
            </a:solidFill>
            <a:tailEnd type="none" w="sm" len="sm"/>
          </a:ln>
        </p:spPr>
      </p:cxnSp>
      <p:cxnSp>
        <p:nvCxnSpPr>
          <p:cNvPr id="44" name=""/>
          <p:cNvCxnSpPr>
            <a:stCxn xmlns:a="http://schemas.openxmlformats.org/drawingml/2006/main" id="19" idx="1"/>
            <a:endCxn xmlns:a="http://schemas.openxmlformats.org/drawingml/2006/main" id="22" idx="6"/>
          </p:cNvCxnSpPr>
          <p:nvPr/>
        </p:nvCxnSpPr>
        <p:spPr>
          <a:xfrm xmlns:a="http://schemas.openxmlformats.org/drawingml/2006/main" flipH="1">
            <a:off x="3762375" y="3476625"/>
            <a:ext cx="1285875" cy="1738313"/>
          </a:xfrm>
          <a:prstGeom xmlns:a="http://schemas.openxmlformats.org/drawingml/2006/main" prst="straightConnector1">
            <a:avLst/>
          </a:prstGeom>
          <a:ln xmlns:a="http://schemas.openxmlformats.org/drawingml/2006/main" w="19050">
            <a:solidFill>
              <a:srgbClr val="5D7FA9"/>
            </a:solidFill>
            <a:tailEnd type="none" w="sm" len="sm"/>
          </a:ln>
        </p:spPr>
      </p:cxnSp>
      <p:cxnSp>
        <p:nvCxnSpPr>
          <p:cNvPr id="45" name=""/>
          <p:cNvCxnSpPr>
            <a:stCxn xmlns:a="http://schemas.openxmlformats.org/drawingml/2006/main" id="19" idx="3"/>
            <a:endCxn xmlns:a="http://schemas.openxmlformats.org/drawingml/2006/main" id="23" idx="2"/>
          </p:cNvCxnSpPr>
          <p:nvPr/>
        </p:nvCxnSpPr>
        <p:spPr>
          <a:xfrm xmlns:a="http://schemas.openxmlformats.org/drawingml/2006/main" flipV="1">
            <a:off x="7143750" y="1976438"/>
            <a:ext cx="1095375" cy="1500188"/>
          </a:xfrm>
          <a:prstGeom xmlns:a="http://schemas.openxmlformats.org/drawingml/2006/main" prst="straightConnector1">
            <a:avLst/>
          </a:prstGeom>
          <a:ln xmlns:a="http://schemas.openxmlformats.org/drawingml/2006/main" w="19050">
            <a:solidFill>
              <a:srgbClr val="5D7FA9"/>
            </a:solidFill>
            <a:tailEnd type="none" w="sm" len="sm"/>
          </a:ln>
        </p:spPr>
      </p:cxnSp>
      <p:cxnSp>
        <p:nvCxnSpPr>
          <p:cNvPr id="46" name=""/>
          <p:cNvCxnSpPr>
            <a:stCxn xmlns:a="http://schemas.openxmlformats.org/drawingml/2006/main" id="19" idx="3"/>
            <a:endCxn xmlns:a="http://schemas.openxmlformats.org/drawingml/2006/main" id="24" idx="2"/>
          </p:cNvCxnSpPr>
          <p:nvPr/>
        </p:nvCxnSpPr>
        <p:spPr>
          <a:xfrm xmlns:a="http://schemas.openxmlformats.org/drawingml/2006/main">
            <a:off x="7143750" y="3476625"/>
            <a:ext cx="1095375" cy="119063"/>
          </a:xfrm>
          <a:prstGeom xmlns:a="http://schemas.openxmlformats.org/drawingml/2006/main" prst="straightConnector1">
            <a:avLst/>
          </a:prstGeom>
          <a:ln xmlns:a="http://schemas.openxmlformats.org/drawingml/2006/main" w="19050">
            <a:solidFill>
              <a:srgbClr val="5D7FA9"/>
            </a:solidFill>
            <a:tailEnd type="none" w="sm" len="sm"/>
          </a:ln>
        </p:spPr>
      </p:cxnSp>
      <p:cxnSp>
        <p:nvCxnSpPr>
          <p:cNvPr id="47" name=""/>
          <p:cNvCxnSpPr>
            <a:stCxn xmlns:a="http://schemas.openxmlformats.org/drawingml/2006/main" id="19" idx="3"/>
            <a:endCxn xmlns:a="http://schemas.openxmlformats.org/drawingml/2006/main" id="25" idx="2"/>
          </p:cNvCxnSpPr>
          <p:nvPr/>
        </p:nvCxnSpPr>
        <p:spPr>
          <a:xfrm xmlns:a="http://schemas.openxmlformats.org/drawingml/2006/main">
            <a:off x="7143750" y="3476625"/>
            <a:ext cx="1095375" cy="1738313"/>
          </a:xfrm>
          <a:prstGeom xmlns:a="http://schemas.openxmlformats.org/drawingml/2006/main" prst="straightConnector1">
            <a:avLst/>
          </a:prstGeom>
          <a:ln xmlns:a="http://schemas.openxmlformats.org/drawingml/2006/main" w="19050">
            <a:solidFill>
              <a:srgbClr val="5D7FA9"/>
            </a:solidFill>
            <a:tailEnd type="none" w="sm" len="sm"/>
          </a:ln>
        </p:spPr>
      </p:cxnSp>
      <p:sp>
        <p:nvSpPr>
          <p:cNvPr id="32" name="">
            <a:extLst xmlns:a="http://schemas.openxmlformats.org/drawingml/2006/main">
              <a:ext uri="{FF2B5EF4-FFF2-40B4-BE49-F238E27FC236}">
                <a16:creationId xmlns:a16="http://schemas.microsoft.com/office/drawing/2014/main" id="{3901E100-CB59-4926-B97B-AB094D0CDF89}"/>
              </a:ext>
            </a:extLst>
          </p:cNvPr>
          <p:cNvSpPr>
            <a:spLocks xmlns:a="http://schemas.openxmlformats.org/drawingml/2006/main" noGrp="1"/>
          </p:cNvSpPr>
          <p:nvPr/>
        </p:nvSpPr>
        <p:spPr>
          <a:xfrm xmlns:a="http://schemas.openxmlformats.org/drawingml/2006/main">
            <a:off x="628650" y="6191250"/>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Local workflow actor; authenticated roles are outside the current baseline.</a:t>
            </a:r>
          </a:p>
        </p:txBody>
      </p:sp>
    </p:spTree>
    <p:extLst>
      <p:ext uri="{BB962C8B-B14F-4D97-AF65-F5344CB8AC3E}">
        <p14:creationId xmlns:p14="http://schemas.microsoft.com/office/powerpoint/2010/main" val="1227677238"/>
      </p:ext>
    </p:extLst>
  </p:cSld>
</p:sld>
</file>

<file path=ppt/slides/slide14.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361941-19BC-4EC4-BA8A-790636AE318C}"/>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Component architecture</a:t>
            </a:r>
          </a:p>
        </p:txBody>
      </p:sp>
      <p:sp>
        <p:nvSpPr>
          <p:cNvPr id="2" name="">
            <a:extLst xmlns:a="http://schemas.openxmlformats.org/drawingml/2006/main">
              <a:ext uri="{FF2B5EF4-FFF2-40B4-BE49-F238E27FC236}">
                <a16:creationId xmlns:a16="http://schemas.microsoft.com/office/drawing/2014/main" id="{D2278911-ABDB-4FC6-9347-11955CD70B0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14</a:t>
            </a:r>
          </a:p>
        </p:txBody>
      </p:sp>
      <p:sp>
        <p:nvSpPr>
          <p:cNvPr id="18" name="">
            <a:extLst xmlns:a="http://schemas.openxmlformats.org/drawingml/2006/main">
              <a:ext uri="{FF2B5EF4-FFF2-40B4-BE49-F238E27FC236}">
                <a16:creationId xmlns:a16="http://schemas.microsoft.com/office/drawing/2014/main" id="{A80F862F-0F8C-4C7D-89C8-CD3A6934D784}"/>
              </a:ext>
            </a:extLst>
          </p:cNvPr>
          <p:cNvSpPr>
            <a:spLocks xmlns:a="http://schemas.openxmlformats.org/drawingml/2006/main" noGrp="1"/>
          </p:cNvSpPr>
          <p:nvPr/>
        </p:nvSpPr>
        <p:spPr>
          <a:xfrm xmlns:a="http://schemas.openxmlformats.org/drawingml/2006/main">
            <a:off x="571500" y="1428750"/>
            <a:ext cx="2952750" cy="76200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React / Vite browser</a:t>
            </a:r>
          </a:p>
        </p:txBody>
      </p:sp>
      <p:sp>
        <p:nvSpPr>
          <p:cNvPr id="19" name="">
            <a:extLst xmlns:a="http://schemas.openxmlformats.org/drawingml/2006/main">
              <a:ext uri="{FF2B5EF4-FFF2-40B4-BE49-F238E27FC236}">
                <a16:creationId xmlns:a16="http://schemas.microsoft.com/office/drawing/2014/main" id="{1E5D35E4-6F61-4F27-9DF0-B1B3AF35B3BD}"/>
              </a:ext>
            </a:extLst>
          </p:cNvPr>
          <p:cNvSpPr>
            <a:spLocks xmlns:a="http://schemas.openxmlformats.org/drawingml/2006/main" noGrp="1"/>
          </p:cNvSpPr>
          <p:nvPr/>
        </p:nvSpPr>
        <p:spPr>
          <a:xfrm xmlns:a="http://schemas.openxmlformats.org/drawingml/2006/main">
            <a:off x="4619625" y="1428750"/>
            <a:ext cx="2952750" cy="76200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FastAPI API</a:t>
            </a:r>
          </a:p>
        </p:txBody>
      </p:sp>
      <p:sp>
        <p:nvSpPr>
          <p:cNvPr id="20" name="">
            <a:extLst xmlns:a="http://schemas.openxmlformats.org/drawingml/2006/main">
              <a:ext uri="{FF2B5EF4-FFF2-40B4-BE49-F238E27FC236}">
                <a16:creationId xmlns:a16="http://schemas.microsoft.com/office/drawing/2014/main" id="{9260246E-7A23-4FEA-9B4E-7C652CCBAE00}"/>
              </a:ext>
            </a:extLst>
          </p:cNvPr>
          <p:cNvSpPr>
            <a:spLocks xmlns:a="http://schemas.openxmlformats.org/drawingml/2006/main" noGrp="1"/>
          </p:cNvSpPr>
          <p:nvPr/>
        </p:nvSpPr>
        <p:spPr>
          <a:xfrm xmlns:a="http://schemas.openxmlformats.org/drawingml/2006/main">
            <a:off x="8572500" y="1428750"/>
            <a:ext cx="3000375" cy="76200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Local audio / DOCX</a:t>
            </a:r>
          </a:p>
        </p:txBody>
      </p:sp>
      <p:sp>
        <p:nvSpPr>
          <p:cNvPr id="21" name="">
            <a:extLst xmlns:a="http://schemas.openxmlformats.org/drawingml/2006/main">
              <a:ext uri="{FF2B5EF4-FFF2-40B4-BE49-F238E27FC236}">
                <a16:creationId xmlns:a16="http://schemas.microsoft.com/office/drawing/2014/main" id="{B9CE767A-9ADD-4C4D-9622-5C873E26CFC5}"/>
              </a:ext>
            </a:extLst>
          </p:cNvPr>
          <p:cNvSpPr>
            <a:spLocks xmlns:a="http://schemas.openxmlformats.org/drawingml/2006/main" noGrp="1"/>
          </p:cNvSpPr>
          <p:nvPr/>
        </p:nvSpPr>
        <p:spPr>
          <a:xfrm xmlns:a="http://schemas.openxmlformats.org/drawingml/2006/main">
            <a:off x="4619625" y="3381375"/>
            <a:ext cx="2952750" cy="95250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SQLite WAL</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Jobs and review JSON</a:t>
            </a:r>
          </a:p>
        </p:txBody>
      </p:sp>
      <p:sp>
        <p:nvSpPr>
          <p:cNvPr id="22" name="">
            <a:extLst xmlns:a="http://schemas.openxmlformats.org/drawingml/2006/main">
              <a:ext uri="{FF2B5EF4-FFF2-40B4-BE49-F238E27FC236}">
                <a16:creationId xmlns:a16="http://schemas.microsoft.com/office/drawing/2014/main" id="{F71830AB-DF8D-41D6-A05B-423E284285A3}"/>
              </a:ext>
            </a:extLst>
          </p:cNvPr>
          <p:cNvSpPr>
            <a:spLocks xmlns:a="http://schemas.openxmlformats.org/drawingml/2006/main" noGrp="1"/>
          </p:cNvSpPr>
          <p:nvPr/>
        </p:nvSpPr>
        <p:spPr>
          <a:xfrm xmlns:a="http://schemas.openxmlformats.org/drawingml/2006/main">
            <a:off x="571500" y="5238750"/>
            <a:ext cx="3143250" cy="809625"/>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Single Python worker</a:t>
            </a:r>
          </a:p>
        </p:txBody>
      </p:sp>
      <p:sp>
        <p:nvSpPr>
          <p:cNvPr id="23" name="">
            <a:extLst xmlns:a="http://schemas.openxmlformats.org/drawingml/2006/main">
              <a:ext uri="{FF2B5EF4-FFF2-40B4-BE49-F238E27FC236}">
                <a16:creationId xmlns:a16="http://schemas.microsoft.com/office/drawing/2014/main" id="{ED1B93AB-3B67-42E2-9EDD-D3495162272C}"/>
              </a:ext>
            </a:extLst>
          </p:cNvPr>
          <p:cNvSpPr>
            <a:spLocks xmlns:a="http://schemas.openxmlformats.org/drawingml/2006/main" noGrp="1"/>
          </p:cNvSpPr>
          <p:nvPr/>
        </p:nvSpPr>
        <p:spPr>
          <a:xfrm xmlns:a="http://schemas.openxmlformats.org/drawingml/2006/main">
            <a:off x="7143750" y="4953000"/>
            <a:ext cx="4429125" cy="1190625"/>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3D34"/>
                </a:solidFill>
                <a:latin typeface="Arial"/>
                <a:ea typeface="Arial"/>
                <a:cs typeface="Arial"/>
              </a:defRPr>
            </a:pPr>
            <a:r>
              <a:rPr sz="1875">
                <a:solidFill>
                  <a:srgbClr val="183D34"/>
                </a:solidFill>
                <a:latin typeface="Arial"/>
                <a:ea typeface="Arial"/>
                <a:cs typeface="Arial"/>
              </a:rPr>
              <a:t>Mixed-CTC + sherpa ONNX</a:t>
            </a:r>
          </a:p>
          <a:p xmlns:a="http://schemas.openxmlformats.org/drawingml/2006/main">
            <a:pPr algn="ctr">
              <a:defRPr sz="1875">
                <a:solidFill>
                  <a:srgbClr val="183D34"/>
                </a:solidFill>
                <a:latin typeface="Arial"/>
                <a:ea typeface="Arial"/>
                <a:cs typeface="Arial"/>
              </a:defRPr>
            </a:pPr>
            <a:r>
              <a:rPr sz="1875">
                <a:solidFill>
                  <a:srgbClr val="183D34"/>
                </a:solidFill>
                <a:latin typeface="Arial"/>
                <a:ea typeface="Arial"/>
                <a:cs typeface="Arial"/>
              </a:rPr>
              <a:t>4-bit Qwen3-4B</a:t>
            </a:r>
          </a:p>
          <a:p xmlns:a="http://schemas.openxmlformats.org/drawingml/2006/main">
            <a:pPr algn="ctr">
              <a:defRPr sz="1875">
                <a:solidFill>
                  <a:srgbClr val="183D34"/>
                </a:solidFill>
                <a:latin typeface="Arial"/>
                <a:ea typeface="Arial"/>
                <a:cs typeface="Arial"/>
              </a:defRPr>
            </a:pPr>
            <a:r>
              <a:rPr sz="1875">
                <a:solidFill>
                  <a:srgbClr val="183D34"/>
                </a:solidFill>
                <a:latin typeface="Arial"/>
                <a:ea typeface="Arial"/>
                <a:cs typeface="Arial"/>
              </a:rPr>
              <a:t>Validate structured result</a:t>
            </a:r>
          </a:p>
        </p:txBody>
      </p:sp>
      <p:cxnSp>
        <p:nvCxnSpPr>
          <p:cNvPr id="39" name=""/>
          <p:cNvCxnSpPr>
            <a:stCxn xmlns:a="http://schemas.openxmlformats.org/drawingml/2006/main" id="18" idx="3"/>
            <a:endCxn xmlns:a="http://schemas.openxmlformats.org/drawingml/2006/main" id="19" idx="1"/>
          </p:cNvCxnSpPr>
          <p:nvPr/>
        </p:nvCxnSpPr>
        <p:spPr>
          <a:xfrm xmlns:a="http://schemas.openxmlformats.org/drawingml/2006/main">
            <a:off x="3524250" y="1809750"/>
            <a:ext cx="1095375" cy="0"/>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40" name=""/>
          <p:cNvCxnSpPr>
            <a:stCxn xmlns:a="http://schemas.openxmlformats.org/drawingml/2006/main" id="19" idx="3"/>
            <a:endCxn xmlns:a="http://schemas.openxmlformats.org/drawingml/2006/main" id="20" idx="1"/>
          </p:cNvCxnSpPr>
          <p:nvPr/>
        </p:nvCxnSpPr>
        <p:spPr>
          <a:xfrm xmlns:a="http://schemas.openxmlformats.org/drawingml/2006/main">
            <a:off x="7572375" y="1809750"/>
            <a:ext cx="1000125" cy="0"/>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41" name=""/>
          <p:cNvCxnSpPr>
            <a:stCxn xmlns:a="http://schemas.openxmlformats.org/drawingml/2006/main" id="19" idx="2"/>
            <a:endCxn xmlns:a="http://schemas.openxmlformats.org/drawingml/2006/main" id="21" idx="0"/>
          </p:cNvCxnSpPr>
          <p:nvPr/>
        </p:nvCxnSpPr>
        <p:spPr>
          <a:xfrm xmlns:a="http://schemas.openxmlformats.org/drawingml/2006/main">
            <a:off x="6096000" y="2190750"/>
            <a:ext cx="0" cy="1190625"/>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42" name=""/>
          <p:cNvCxnSpPr>
            <a:stCxn xmlns:a="http://schemas.openxmlformats.org/drawingml/2006/main" id="21" idx="1"/>
            <a:endCxn xmlns:a="http://schemas.openxmlformats.org/drawingml/2006/main" id="22" idx="0"/>
          </p:cNvCxnSpPr>
          <p:nvPr/>
        </p:nvCxnSpPr>
        <p:spPr>
          <a:xfrm xmlns:a="http://schemas.openxmlformats.org/drawingml/2006/main" flipH="1">
            <a:off x="2143125" y="3857625"/>
            <a:ext cx="2476500" cy="1381125"/>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43" name=""/>
          <p:cNvCxnSpPr>
            <a:stCxn xmlns:a="http://schemas.openxmlformats.org/drawingml/2006/main" id="22" idx="3"/>
            <a:endCxn xmlns:a="http://schemas.openxmlformats.org/drawingml/2006/main" id="23" idx="1"/>
          </p:cNvCxnSpPr>
          <p:nvPr/>
        </p:nvCxnSpPr>
        <p:spPr>
          <a:xfrm xmlns:a="http://schemas.openxmlformats.org/drawingml/2006/main" flipV="1">
            <a:off x="3714750" y="5548313"/>
            <a:ext cx="3429000" cy="95250"/>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44" name=""/>
          <p:cNvCxnSpPr>
            <a:stCxn xmlns:a="http://schemas.openxmlformats.org/drawingml/2006/main" id="23" idx="0"/>
            <a:endCxn xmlns:a="http://schemas.openxmlformats.org/drawingml/2006/main" id="21" idx="3"/>
          </p:cNvCxnSpPr>
          <p:nvPr/>
        </p:nvCxnSpPr>
        <p:spPr>
          <a:xfrm xmlns:a="http://schemas.openxmlformats.org/drawingml/2006/main" flipH="1" flipV="1">
            <a:off x="7572375" y="3857625"/>
            <a:ext cx="1785938" cy="1095375"/>
          </a:xfrm>
          <a:prstGeom xmlns:a="http://schemas.openxmlformats.org/drawingml/2006/main" prst="straightConnector1">
            <a:avLst/>
          </a:prstGeom>
          <a:ln xmlns:a="http://schemas.openxmlformats.org/drawingml/2006/main" w="19050">
            <a:solidFill>
              <a:srgbClr val="5D7FA9"/>
            </a:solidFill>
            <a:tailEnd type="triangle" w="sm" len="sm"/>
          </a:ln>
        </p:spPr>
      </p:cxnSp>
      <p:sp>
        <p:nvSpPr>
          <p:cNvPr id="30" name="">
            <a:extLst xmlns:a="http://schemas.openxmlformats.org/drawingml/2006/main">
              <a:ext uri="{FF2B5EF4-FFF2-40B4-BE49-F238E27FC236}">
                <a16:creationId xmlns:a16="http://schemas.microsoft.com/office/drawing/2014/main" id="{01C2A8D0-B18D-4AB9-8BBA-7D4769544F27}"/>
              </a:ext>
            </a:extLst>
          </p:cNvPr>
          <p:cNvSpPr>
            <a:spLocks xmlns:a="http://schemas.openxmlformats.org/drawingml/2006/main" noGrp="1"/>
          </p:cNvSpPr>
          <p:nvPr/>
        </p:nvSpPr>
        <p:spPr>
          <a:xfrm xmlns:a="http://schemas.openxmlformats.org/drawingml/2006/main">
            <a:off x="62865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167"/>
                </a:solidFill>
                <a:latin typeface="Arial"/>
                <a:ea typeface="Arial"/>
                <a:cs typeface="Arial"/>
              </a:defRPr>
            </a:pPr>
            <a:r>
              <a:rPr sz="1575" b="0">
                <a:solidFill>
                  <a:srgbClr val="5D7167"/>
                </a:solidFill>
                <a:latin typeface="Arial"/>
                <a:ea typeface="Arial"/>
                <a:cs typeface="Arial"/>
              </a:rPr>
              <a:t>Models execute in separate stages; the database persists status and results.</a:t>
            </a:r>
          </a:p>
        </p:txBody>
      </p:sp>
    </p:spTree>
    <p:extLst>
      <p:ext uri="{BB962C8B-B14F-4D97-AF65-F5344CB8AC3E}">
        <p14:creationId xmlns:p14="http://schemas.microsoft.com/office/powerpoint/2010/main" val="391230664"/>
      </p:ext>
    </p:extLst>
  </p:cSld>
</p:sld>
</file>

<file path=ppt/slides/slide15.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E7E46D-A262-4161-B7D9-FB51869C9170}"/>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Processing and review lifecycle</a:t>
            </a:r>
          </a:p>
        </p:txBody>
      </p:sp>
      <p:sp>
        <p:nvSpPr>
          <p:cNvPr id="2" name="">
            <a:extLst xmlns:a="http://schemas.openxmlformats.org/drawingml/2006/main">
              <a:ext uri="{FF2B5EF4-FFF2-40B4-BE49-F238E27FC236}">
                <a16:creationId xmlns:a16="http://schemas.microsoft.com/office/drawing/2014/main" id="{2A40074D-1618-4143-A2D9-E07489C5858F}"/>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15</a:t>
            </a:r>
          </a:p>
        </p:txBody>
      </p:sp>
      <p:sp>
        <p:nvSpPr>
          <p:cNvPr id="15" name="">
            <a:extLst xmlns:a="http://schemas.openxmlformats.org/drawingml/2006/main">
              <a:ext uri="{FF2B5EF4-FFF2-40B4-BE49-F238E27FC236}">
                <a16:creationId xmlns:a16="http://schemas.microsoft.com/office/drawing/2014/main" id="{5A252FA1-089C-43C6-8FFB-B8138642DE5D}"/>
              </a:ext>
            </a:extLst>
          </p:cNvPr>
          <p:cNvSpPr>
            <a:spLocks xmlns:a="http://schemas.openxmlformats.org/drawingml/2006/main" noGrp="1"/>
          </p:cNvSpPr>
          <p:nvPr/>
        </p:nvSpPr>
        <p:spPr>
          <a:xfrm xmlns:a="http://schemas.openxmlformats.org/drawingml/2006/main">
            <a:off x="619125" y="1905000"/>
            <a:ext cx="228600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Queued</a:t>
            </a:r>
          </a:p>
        </p:txBody>
      </p:sp>
      <p:sp>
        <p:nvSpPr>
          <p:cNvPr id="16" name="">
            <a:extLst xmlns:a="http://schemas.openxmlformats.org/drawingml/2006/main">
              <a:ext uri="{FF2B5EF4-FFF2-40B4-BE49-F238E27FC236}">
                <a16:creationId xmlns:a16="http://schemas.microsoft.com/office/drawing/2014/main" id="{6F1CD9BC-67A5-4BAA-AFC0-8396B440BA4F}"/>
              </a:ext>
            </a:extLst>
          </p:cNvPr>
          <p:cNvSpPr>
            <a:spLocks xmlns:a="http://schemas.openxmlformats.org/drawingml/2006/main" noGrp="1"/>
          </p:cNvSpPr>
          <p:nvPr/>
        </p:nvSpPr>
        <p:spPr>
          <a:xfrm xmlns:a="http://schemas.openxmlformats.org/drawingml/2006/main">
            <a:off x="4762500" y="1905000"/>
            <a:ext cx="238125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Processing</a:t>
            </a:r>
          </a:p>
        </p:txBody>
      </p:sp>
      <p:sp>
        <p:nvSpPr>
          <p:cNvPr id="17" name="">
            <a:extLst xmlns:a="http://schemas.openxmlformats.org/drawingml/2006/main">
              <a:ext uri="{FF2B5EF4-FFF2-40B4-BE49-F238E27FC236}">
                <a16:creationId xmlns:a16="http://schemas.microsoft.com/office/drawing/2014/main" id="{B1902DD1-A709-49E2-9267-DB6EE34208F5}"/>
              </a:ext>
            </a:extLst>
          </p:cNvPr>
          <p:cNvSpPr>
            <a:spLocks xmlns:a="http://schemas.openxmlformats.org/drawingml/2006/main" noGrp="1"/>
          </p:cNvSpPr>
          <p:nvPr/>
        </p:nvSpPr>
        <p:spPr>
          <a:xfrm xmlns:a="http://schemas.openxmlformats.org/drawingml/2006/main">
            <a:off x="9048750" y="1905000"/>
            <a:ext cx="238125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Done</a:t>
            </a:r>
          </a:p>
        </p:txBody>
      </p:sp>
      <p:sp>
        <p:nvSpPr>
          <p:cNvPr id="18" name="">
            <a:extLst xmlns:a="http://schemas.openxmlformats.org/drawingml/2006/main">
              <a:ext uri="{FF2B5EF4-FFF2-40B4-BE49-F238E27FC236}">
                <a16:creationId xmlns:a16="http://schemas.microsoft.com/office/drawing/2014/main" id="{03AE86DF-5611-4A5E-8BCB-6D67C833FB2B}"/>
              </a:ext>
            </a:extLst>
          </p:cNvPr>
          <p:cNvSpPr>
            <a:spLocks xmlns:a="http://schemas.openxmlformats.org/drawingml/2006/main" noGrp="1"/>
          </p:cNvSpPr>
          <p:nvPr/>
        </p:nvSpPr>
        <p:spPr>
          <a:xfrm xmlns:a="http://schemas.openxmlformats.org/drawingml/2006/main">
            <a:off x="4762500" y="4000500"/>
            <a:ext cx="238125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Failed → retry</a:t>
            </a:r>
          </a:p>
        </p:txBody>
      </p:sp>
      <p:sp>
        <p:nvSpPr>
          <p:cNvPr id="19" name="">
            <a:extLst xmlns:a="http://schemas.openxmlformats.org/drawingml/2006/main">
              <a:ext uri="{FF2B5EF4-FFF2-40B4-BE49-F238E27FC236}">
                <a16:creationId xmlns:a16="http://schemas.microsoft.com/office/drawing/2014/main" id="{611EBEF0-7041-4694-B09C-C0CD08A5C665}"/>
              </a:ext>
            </a:extLst>
          </p:cNvPr>
          <p:cNvSpPr>
            <a:spLocks xmlns:a="http://schemas.openxmlformats.org/drawingml/2006/main" noGrp="1"/>
          </p:cNvSpPr>
          <p:nvPr/>
        </p:nvSpPr>
        <p:spPr>
          <a:xfrm xmlns:a="http://schemas.openxmlformats.org/drawingml/2006/main">
            <a:off x="9048750" y="4000500"/>
            <a:ext cx="2381250" cy="857250"/>
          </a:xfrm>
          <a:prstGeom xmlns:a="http://schemas.openxmlformats.org/drawingml/2006/main" prst="rect">
            <a:avLst/>
          </a:prstGeom>
          <a:solidFill xmlns:a="http://schemas.openxmlformats.org/drawingml/2006/main">
            <a:srgbClr val="EDF3E5"/>
          </a:solidFill>
          <a:ln xmlns:a="http://schemas.openxmlformats.org/drawingml/2006/main" w="14288">
            <a:solidFill>
              <a:srgbClr val="5D7FA9"/>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Save corrections</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Revision check</a:t>
            </a:r>
          </a:p>
        </p:txBody>
      </p:sp>
      <p:cxnSp>
        <p:nvCxnSpPr>
          <p:cNvPr id="33" name=""/>
          <p:cNvCxnSpPr>
            <a:stCxn xmlns:a="http://schemas.openxmlformats.org/drawingml/2006/main" id="15" idx="3"/>
            <a:endCxn xmlns:a="http://schemas.openxmlformats.org/drawingml/2006/main" id="16" idx="1"/>
          </p:cNvCxnSpPr>
          <p:nvPr/>
        </p:nvCxnSpPr>
        <p:spPr>
          <a:xfrm xmlns:a="http://schemas.openxmlformats.org/drawingml/2006/main">
            <a:off x="2905125" y="2333625"/>
            <a:ext cx="1857375" cy="0"/>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34" name=""/>
          <p:cNvCxnSpPr>
            <a:stCxn xmlns:a="http://schemas.openxmlformats.org/drawingml/2006/main" id="16" idx="3"/>
            <a:endCxn xmlns:a="http://schemas.openxmlformats.org/drawingml/2006/main" id="17" idx="1"/>
          </p:cNvCxnSpPr>
          <p:nvPr/>
        </p:nvCxnSpPr>
        <p:spPr>
          <a:xfrm xmlns:a="http://schemas.openxmlformats.org/drawingml/2006/main">
            <a:off x="7143750" y="2333625"/>
            <a:ext cx="1905000" cy="0"/>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35" name=""/>
          <p:cNvCxnSpPr>
            <a:stCxn xmlns:a="http://schemas.openxmlformats.org/drawingml/2006/main" id="16" idx="2"/>
            <a:endCxn xmlns:a="http://schemas.openxmlformats.org/drawingml/2006/main" id="18" idx="0"/>
          </p:cNvCxnSpPr>
          <p:nvPr/>
        </p:nvCxnSpPr>
        <p:spPr>
          <a:xfrm xmlns:a="http://schemas.openxmlformats.org/drawingml/2006/main">
            <a:off x="5953125" y="2762250"/>
            <a:ext cx="0" cy="1238250"/>
          </a:xfrm>
          <a:prstGeom xmlns:a="http://schemas.openxmlformats.org/drawingml/2006/main" prst="straightConnector1">
            <a:avLst/>
          </a:prstGeom>
          <a:ln xmlns:a="http://schemas.openxmlformats.org/drawingml/2006/main" w="19050">
            <a:solidFill>
              <a:srgbClr val="5D7FA9"/>
            </a:solidFill>
            <a:tailEnd type="triangle" w="sm" len="sm"/>
          </a:ln>
        </p:spPr>
      </p:cxnSp>
      <p:cxnSp>
        <p:nvCxnSpPr>
          <p:cNvPr id="36" name=""/>
          <p:cNvCxnSpPr>
            <a:stCxn xmlns:a="http://schemas.openxmlformats.org/drawingml/2006/main" id="17" idx="2"/>
            <a:endCxn xmlns:a="http://schemas.openxmlformats.org/drawingml/2006/main" id="19" idx="0"/>
          </p:cNvCxnSpPr>
          <p:nvPr/>
        </p:nvCxnSpPr>
        <p:spPr>
          <a:xfrm xmlns:a="http://schemas.openxmlformats.org/drawingml/2006/main">
            <a:off x="10239375" y="2762250"/>
            <a:ext cx="0" cy="1238250"/>
          </a:xfrm>
          <a:prstGeom xmlns:a="http://schemas.openxmlformats.org/drawingml/2006/main" prst="straightConnector1">
            <a:avLst/>
          </a:prstGeom>
          <a:ln xmlns:a="http://schemas.openxmlformats.org/drawingml/2006/main" w="19050">
            <a:solidFill>
              <a:srgbClr val="5D7FA9"/>
            </a:solidFill>
            <a:tailEnd type="triangle" w="sm" len="sm"/>
          </a:ln>
        </p:spPr>
      </p:cxnSp>
      <p:sp>
        <p:nvSpPr>
          <p:cNvPr id="24" name="">
            <a:extLst xmlns:a="http://schemas.openxmlformats.org/drawingml/2006/main">
              <a:ext uri="{FF2B5EF4-FFF2-40B4-BE49-F238E27FC236}">
                <a16:creationId xmlns:a16="http://schemas.microsoft.com/office/drawing/2014/main" id="{7F07CD88-5BF9-4D9F-A10F-87DA9F7DBFB3}"/>
              </a:ext>
            </a:extLst>
          </p:cNvPr>
          <p:cNvSpPr>
            <a:spLocks xmlns:a="http://schemas.openxmlformats.org/drawingml/2006/main" noGrp="1"/>
          </p:cNvSpPr>
          <p:nvPr/>
        </p:nvSpPr>
        <p:spPr>
          <a:xfrm xmlns:a="http://schemas.openxmlformats.org/drawingml/2006/main">
            <a:off x="628650" y="5286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D34"/>
                </a:solidFill>
                <a:latin typeface="Arial"/>
                <a:ea typeface="Arial"/>
                <a:cs typeface="Arial"/>
              </a:defRPr>
            </a:pPr>
            <a:r>
              <a:rPr sz="2325" b="1">
                <a:solidFill>
                  <a:srgbClr val="183D34"/>
                </a:solidFill>
                <a:latin typeface="Arial"/>
                <a:ea typeface="Arial"/>
                <a:cs typeface="Arial"/>
              </a:rPr>
              <a:t>Saved review controls DOCX export</a:t>
            </a:r>
          </a:p>
        </p:txBody>
      </p:sp>
      <p:sp>
        <p:nvSpPr>
          <p:cNvPr id="25" name="">
            <a:extLst xmlns:a="http://schemas.openxmlformats.org/drawingml/2006/main">
              <a:ext uri="{FF2B5EF4-FFF2-40B4-BE49-F238E27FC236}">
                <a16:creationId xmlns:a16="http://schemas.microsoft.com/office/drawing/2014/main" id="{E3BB0157-E565-44F7-BBE2-464AB4C5ABB4}"/>
              </a:ext>
            </a:extLst>
          </p:cNvPr>
          <p:cNvSpPr>
            <a:spLocks xmlns:a="http://schemas.openxmlformats.org/drawingml/2006/main" noGrp="1"/>
          </p:cNvSpPr>
          <p:nvPr/>
        </p:nvSpPr>
        <p:spPr>
          <a:xfrm xmlns:a="http://schemas.openxmlformats.org/drawingml/2006/main">
            <a:off x="628650" y="5857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Conflicting saves return HTTP 409. Processing meetings cannot be deleted.</a:t>
            </a:r>
          </a:p>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There is no formal approval state or editable source transcript in the baseline.</a:t>
            </a:r>
          </a:p>
        </p:txBody>
      </p:sp>
    </p:spTree>
    <p:extLst>
      <p:ext uri="{BB962C8B-B14F-4D97-AF65-F5344CB8AC3E}">
        <p14:creationId xmlns:p14="http://schemas.microsoft.com/office/powerpoint/2010/main" val="886250196"/>
      </p:ext>
    </p:extLst>
  </p:cSld>
</p:sld>
</file>

<file path=ppt/slides/slide16.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468902-F6FE-42CC-B07F-3EB7CDB64A74}"/>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Working application demonstration</a:t>
            </a:r>
          </a:p>
        </p:txBody>
      </p:sp>
      <p:sp>
        <p:nvSpPr>
          <p:cNvPr id="2" name="">
            <a:extLst xmlns:a="http://schemas.openxmlformats.org/drawingml/2006/main">
              <a:ext uri="{FF2B5EF4-FFF2-40B4-BE49-F238E27FC236}">
                <a16:creationId xmlns:a16="http://schemas.microsoft.com/office/drawing/2014/main" id="{1FC8F562-5423-4E64-A4C0-4C645176197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16</a:t>
            </a:r>
          </a:p>
        </p:txBody>
      </p:sp>
      <p:graphicFrame>
        <p:nvGraphicFramePr>
          <p:cNvPr id="9" name=""/>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3143250"/>
                <a:gridCol w="7829550"/>
              </a:tblGrid>
              <a:tr h="619125">
                <a:tc>
                  <a:txBody>
                    <a:bodyPr>
                      <a:noAutofit/>
                    </a:bodyPr>
                    <a:lstStyle/>
                    <a:p>
                      <a:r>
                        <a:rPr sz="1800" b="1">
                          <a:solidFill>
                            <a:srgbClr val="FFFFFF"/>
                          </a:solidFill>
                          <a:latin typeface="Arial"/>
                          <a:ea typeface="Arial"/>
                          <a:cs typeface="Arial"/>
                        </a:rPr>
                        <a:t>Journey</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Demonstration</a:t>
                      </a:r>
                    </a:p>
                  </a:txBody>
                  <a:tcPr marL="91440" marR="91440" marT="45720" marB="45720">
                    <a:solidFill>
                      <a:srgbClr val="2B5F4C"/>
                    </a:solidFill>
                  </a:tcPr>
                </a:tc>
              </a:tr>
              <a:tr h="619125">
                <a:tc>
                  <a:txBody>
                    <a:bodyPr>
                      <a:noAutofit/>
                    </a:bodyPr>
                    <a:lstStyle/>
                    <a:p>
                      <a:r>
                        <a:rPr sz="1800" b="0">
                          <a:solidFill>
                            <a:srgbClr val="183D34"/>
                          </a:solidFill>
                          <a:latin typeface="Arial"/>
                          <a:ea typeface="Arial"/>
                          <a:cs typeface="Arial"/>
                        </a:rPr>
                        <a:t>Create meeting</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Upload a short permitted recording and provide meeting context</a:t>
                      </a:r>
                    </a:p>
                  </a:txBody>
                  <a:tcPr marL="91440" marR="91440" marT="45720" marB="45720">
                    <a:solidFill>
                      <a:srgbClr val="FFFFFF"/>
                    </a:solidFill>
                  </a:tcPr>
                </a:tc>
              </a:tr>
              <a:tr h="619125">
                <a:tc>
                  <a:txBody>
                    <a:bodyPr>
                      <a:noAutofit/>
                    </a:bodyPr>
                    <a:lstStyle/>
                    <a:p>
                      <a:r>
                        <a:rPr sz="1800" b="0">
                          <a:solidFill>
                            <a:srgbClr val="183D34"/>
                          </a:solidFill>
                          <a:latin typeface="Arial"/>
                          <a:ea typeface="Arial"/>
                          <a:cs typeface="Arial"/>
                        </a:rPr>
                        <a:t>Processing</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Show actual queued / processing / done or failed state</a:t>
                      </a:r>
                    </a:p>
                  </a:txBody>
                  <a:tcPr marL="91440" marR="91440" marT="45720" marB="45720">
                    <a:solidFill>
                      <a:srgbClr val="EDF3E5"/>
                    </a:solidFill>
                  </a:tcPr>
                </a:tc>
              </a:tr>
              <a:tr h="619125">
                <a:tc>
                  <a:txBody>
                    <a:bodyPr>
                      <a:noAutofit/>
                    </a:bodyPr>
                    <a:lstStyle/>
                    <a:p>
                      <a:r>
                        <a:rPr sz="1800" b="0">
                          <a:solidFill>
                            <a:srgbClr val="183D34"/>
                          </a:solidFill>
                          <a:latin typeface="Arial"/>
                          <a:ea typeface="Arial"/>
                          <a:cs typeface="Arial"/>
                        </a:rPr>
                        <a:t>Source review</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Open transcript and task source IDs; check speaker labels</a:t>
                      </a:r>
                    </a:p>
                  </a:txBody>
                  <a:tcPr marL="91440" marR="91440" marT="45720" marB="45720">
                    <a:solidFill>
                      <a:srgbClr val="FFFFFF"/>
                    </a:solidFill>
                  </a:tcPr>
                </a:tc>
              </a:tr>
              <a:tr h="619125">
                <a:tc>
                  <a:txBody>
                    <a:bodyPr>
                      <a:noAutofit/>
                    </a:bodyPr>
                    <a:lstStyle/>
                    <a:p>
                      <a:r>
                        <a:rPr sz="1800" b="0">
                          <a:solidFill>
                            <a:srgbClr val="183D34"/>
                          </a:solidFill>
                          <a:latin typeface="Arial"/>
                          <a:ea typeface="Arial"/>
                          <a:cs typeface="Arial"/>
                        </a:rPr>
                        <a:t>Correction</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Edit participants, tasks and summary; save the review</a:t>
                      </a:r>
                    </a:p>
                  </a:txBody>
                  <a:tcPr marL="91440" marR="91440" marT="45720" marB="45720">
                    <a:solidFill>
                      <a:srgbClr val="EDF3E5"/>
                    </a:solidFill>
                  </a:tcPr>
                </a:tc>
              </a:tr>
              <a:tr h="619125">
                <a:tc>
                  <a:txBody>
                    <a:bodyPr>
                      <a:noAutofit/>
                    </a:bodyPr>
                    <a:lstStyle/>
                    <a:p>
                      <a:r>
                        <a:rPr sz="1800" b="0">
                          <a:solidFill>
                            <a:srgbClr val="183D34"/>
                          </a:solidFill>
                          <a:latin typeface="Arial"/>
                          <a:ea typeface="Arial"/>
                          <a:cs typeface="Arial"/>
                        </a:rPr>
                        <a:t>Export and recovery</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Open saved DOCX; demonstrate failed retry or safe deletion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CB6569-B8A3-4119-B8B4-F65D8B29D567}"/>
              </a:ext>
            </a:extLst>
          </p:cNvPr>
          <p:cNvSpPr>
            <a:spLocks xmlns:a="http://schemas.openxmlformats.org/drawingml/2006/main" noGrp="1"/>
          </p:cNvSpPr>
          <p:nvPr/>
        </p:nvSpPr>
        <p:spPr>
          <a:xfrm xmlns:a="http://schemas.openxmlformats.org/drawingml/2006/main">
            <a:off x="628650" y="5619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83D34"/>
                </a:solidFill>
                <a:latin typeface="Arial"/>
                <a:ea typeface="Arial"/>
                <a:cs typeface="Arial"/>
              </a:defRPr>
            </a:pPr>
            <a:r>
              <a:rPr sz="1875" b="1">
                <a:solidFill>
                  <a:srgbClr val="183D34"/>
                </a:solidFill>
                <a:latin typeface="Arial"/>
                <a:ea typeface="Arial"/>
                <a:cs typeface="Arial"/>
              </a:rPr>
              <a:t>Prepared fallback: an existing result with its recording, commit and known limitations identified.</a:t>
            </a:r>
          </a:p>
        </p:txBody>
      </p:sp>
    </p:spTree>
    <p:extLst>
      <p:ext uri="{BB962C8B-B14F-4D97-AF65-F5344CB8AC3E}">
        <p14:creationId xmlns:p14="http://schemas.microsoft.com/office/powerpoint/2010/main" val="438469924"/>
      </p:ext>
    </p:extLst>
  </p:cSld>
</p:sld>
</file>

<file path=ppt/slides/slide17.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934CCB-2748-4F81-85C0-5EE8CEC07DDA}"/>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Evaluation data and baselines</a:t>
            </a:r>
          </a:p>
        </p:txBody>
      </p:sp>
      <p:sp>
        <p:nvSpPr>
          <p:cNvPr id="2" name="">
            <a:extLst xmlns:a="http://schemas.openxmlformats.org/drawingml/2006/main">
              <a:ext uri="{FF2B5EF4-FFF2-40B4-BE49-F238E27FC236}">
                <a16:creationId xmlns:a16="http://schemas.microsoft.com/office/drawing/2014/main" id="{A6C9DE6A-BA80-4BD7-8AD3-F7B1E6B1E67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25F4941-2A0B-42D3-A19F-616338925EFF}"/>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Data protocol</a:t>
            </a:r>
          </a:p>
        </p:txBody>
      </p:sp>
      <p:sp>
        <p:nvSpPr>
          <p:cNvPr id="4" name="">
            <a:extLst xmlns:a="http://schemas.openxmlformats.org/drawingml/2006/main">
              <a:ext uri="{FF2B5EF4-FFF2-40B4-BE49-F238E27FC236}">
                <a16:creationId xmlns:a16="http://schemas.microsoft.com/office/drawing/2014/main" id="{AF944553-A257-4BF1-B5AD-9432DB331F17}"/>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Kazakh / Russian / mixed speech</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Whole-meeting grouped splits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Two bilingual annotators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Independent factuality adjudication</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Permission and provenance records</a:t>
            </a:r>
          </a:p>
        </p:txBody>
      </p:sp>
      <p:sp>
        <p:nvSpPr>
          <p:cNvPr id="5" name="">
            <a:extLst xmlns:a="http://schemas.openxmlformats.org/drawingml/2006/main">
              <a:ext uri="{FF2B5EF4-FFF2-40B4-BE49-F238E27FC236}">
                <a16:creationId xmlns:a16="http://schemas.microsoft.com/office/drawing/2014/main" id="{04106687-AFD4-49A2-AE4F-1E34CAC18CD1}"/>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Comparisons</a:t>
            </a:r>
          </a:p>
        </p:txBody>
      </p:sp>
      <p:sp>
        <p:nvSpPr>
          <p:cNvPr id="6" name="">
            <a:extLst xmlns:a="http://schemas.openxmlformats.org/drawingml/2006/main">
              <a:ext uri="{FF2B5EF4-FFF2-40B4-BE49-F238E27FC236}">
                <a16:creationId xmlns:a16="http://schemas.microsoft.com/office/drawing/2014/main" id="{29FEDB9A-870B-418C-A28C-AC990AF8BBBA}"/>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Mixed-CTC versus Whisper variants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Extractive template versus neural draft</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Qwen baseline versus feasible candidates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ASR versus corrected-source generation</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Manual versus Hattama review</a:t>
            </a:r>
          </a:p>
        </p:txBody>
      </p:sp>
      <p:sp>
        <p:nvSpPr>
          <p:cNvPr id="7" name="">
            <a:extLst xmlns:a="http://schemas.openxmlformats.org/drawingml/2006/main">
              <a:ext uri="{FF2B5EF4-FFF2-40B4-BE49-F238E27FC236}">
                <a16:creationId xmlns:a16="http://schemas.microsoft.com/office/drawing/2014/main" id="{226419F0-001B-4317-98E4-0720460A8177}"/>
              </a:ext>
            </a:extLst>
          </p:cNvPr>
          <p:cNvSpPr>
            <a:spLocks xmlns:a="http://schemas.openxmlformats.org/drawingml/2006/main" noGrp="1"/>
          </p:cNvSpPr>
          <p:nvPr/>
        </p:nvSpPr>
        <p:spPr>
          <a:xfrm xmlns:a="http://schemas.openxmlformats.org/drawingml/2006/main">
            <a:off x="628650" y="58769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83D34"/>
                </a:solidFill>
                <a:latin typeface="Arial"/>
                <a:ea typeface="Arial"/>
                <a:cs typeface="Arial"/>
              </a:defRPr>
            </a:pPr>
            <a:r>
              <a:rPr sz="1725" b="1">
                <a:solidFill>
                  <a:srgbClr val="183D34"/>
                </a:solidFill>
                <a:latin typeface="Arial"/>
                <a:ea typeface="Arial"/>
                <a:cs typeface="Arial"/>
              </a:rPr>
              <a:t>Freeze inputs, prompts and matching rules before testing. Report failures and actual sample size.</a:t>
            </a:r>
          </a:p>
        </p:txBody>
      </p:sp>
    </p:spTree>
    <p:extLst>
      <p:ext uri="{BB962C8B-B14F-4D97-AF65-F5344CB8AC3E}">
        <p14:creationId xmlns:p14="http://schemas.microsoft.com/office/powerpoint/2010/main" val="1895044330"/>
      </p:ext>
    </p:extLst>
  </p:cSld>
</p:sld>
</file>

<file path=ppt/slides/slide18.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815E1B-5E74-4E8B-848A-D6197288E8F9}"/>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Preliminary evidence and quality targets</a:t>
            </a:r>
          </a:p>
        </p:txBody>
      </p:sp>
      <p:sp>
        <p:nvSpPr>
          <p:cNvPr id="2" name="">
            <a:extLst xmlns:a="http://schemas.openxmlformats.org/drawingml/2006/main">
              <a:ext uri="{FF2B5EF4-FFF2-40B4-BE49-F238E27FC236}">
                <a16:creationId xmlns:a16="http://schemas.microsoft.com/office/drawing/2014/main" id="{1A241D11-1696-4AFE-8831-CAB017AC1BE6}"/>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18</a:t>
            </a:r>
          </a:p>
        </p:txBody>
      </p:sp>
      <p:graphicFrame>
        <p:nvGraphicFramePr>
          <p:cNvPr id="9" name=""/>
          <p:cNvGraphicFramePr/>
          <p:nvPr/>
        </p:nvGraphicFramePr>
        <p:xfrm>
          <a:off xmlns:a="http://schemas.openxmlformats.org/drawingml/2006/main" x="609600" y="1476375"/>
          <a:ext xmlns:a="http://schemas.openxmlformats.org/drawingml/2006/main" cx="10972800" cy="3810000"/>
        </p:xfrm>
        <a:graphic xmlns:a="http://schemas.openxmlformats.org/drawingml/2006/main">
          <a:graphicData uri="http://schemas.openxmlformats.org/drawingml/2006/table">
            <a:tbl>
              <a:tblPr/>
              <a:tblGrid>
                <a:gridCol w="3905250"/>
                <a:gridCol w="7067550"/>
              </a:tblGrid>
              <a:tr h="635000">
                <a:tc>
                  <a:txBody>
                    <a:bodyPr>
                      <a:noAutofit/>
                    </a:bodyPr>
                    <a:lstStyle/>
                    <a:p>
                      <a:r>
                        <a:rPr sz="1725" b="1">
                          <a:solidFill>
                            <a:srgbClr val="FFFFFF"/>
                          </a:solidFill>
                          <a:latin typeface="Arial"/>
                          <a:ea typeface="Arial"/>
                          <a:cs typeface="Arial"/>
                        </a:rPr>
                        <a:t>Measure</a:t>
                      </a:r>
                    </a:p>
                  </a:txBody>
                  <a:tcPr marL="91440" marR="91440" marT="45720" marB="45720">
                    <a:solidFill>
                      <a:srgbClr val="2B5F4C"/>
                    </a:solidFill>
                  </a:tcPr>
                </a:tc>
                <a:tc>
                  <a:txBody>
                    <a:bodyPr>
                      <a:noAutofit/>
                    </a:bodyPr>
                    <a:lstStyle/>
                    <a:p>
                      <a:r>
                        <a:rPr sz="1725" b="1">
                          <a:solidFill>
                            <a:srgbClr val="FFFFFF"/>
                          </a:solidFill>
                          <a:latin typeface="Arial"/>
                          <a:ea typeface="Arial"/>
                          <a:cs typeface="Arial"/>
                        </a:rPr>
                        <a:t>Evidence or proposed target</a:t>
                      </a:r>
                    </a:p>
                  </a:txBody>
                  <a:tcPr marL="91440" marR="91440" marT="45720" marB="45720">
                    <a:solidFill>
                      <a:srgbClr val="2B5F4C"/>
                    </a:solidFill>
                  </a:tcPr>
                </a:tc>
              </a:tr>
              <a:tr h="635000">
                <a:tc>
                  <a:txBody>
                    <a:bodyPr>
                      <a:noAutofit/>
                    </a:bodyPr>
                    <a:lstStyle/>
                    <a:p>
                      <a:r>
                        <a:rPr sz="1725" b="0">
                          <a:solidFill>
                            <a:srgbClr val="183D34"/>
                          </a:solidFill>
                          <a:latin typeface="Arial"/>
                          <a:ea typeface="Arial"/>
                          <a:cs typeface="Arial"/>
                        </a:rPr>
                        <a:t>Historical full pipeline</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20.79 s audio → 196.97 s; RTF ≈9.47; errors recorded</a:t>
                      </a:r>
                    </a:p>
                  </a:txBody>
                  <a:tcPr marL="91440" marR="91440" marT="45720" marB="45720">
                    <a:solidFill>
                      <a:srgbClr val="FFFFFF"/>
                    </a:solidFill>
                  </a:tcPr>
                </a:tc>
              </a:tr>
              <a:tr h="635000">
                <a:tc>
                  <a:txBody>
                    <a:bodyPr>
                      <a:noAutofit/>
                    </a:bodyPr>
                    <a:lstStyle/>
                    <a:p>
                      <a:r>
                        <a:rPr sz="1725" b="0">
                          <a:solidFill>
                            <a:srgbClr val="183D34"/>
                          </a:solidFill>
                          <a:latin typeface="Arial"/>
                          <a:ea typeface="Arial"/>
                          <a:cs typeface="Arial"/>
                        </a:rPr>
                        <a:t>Historical real excerpt</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45 s audio → 62.37 s; no annotated quality score</a:t>
                      </a:r>
                    </a:p>
                  </a:txBody>
                  <a:tcPr marL="91440" marR="91440" marT="45720" marB="45720">
                    <a:solidFill>
                      <a:srgbClr val="EDF3E5"/>
                    </a:solidFill>
                  </a:tcPr>
                </a:tc>
              </a:tr>
              <a:tr h="635000">
                <a:tc>
                  <a:txBody>
                    <a:bodyPr>
                      <a:noAutofit/>
                    </a:bodyPr>
                    <a:lstStyle/>
                    <a:p>
                      <a:r>
                        <a:rPr sz="1725" b="0">
                          <a:solidFill>
                            <a:srgbClr val="183D34"/>
                          </a:solidFill>
                          <a:latin typeface="Arial"/>
                          <a:ea typeface="Arial"/>
                          <a:cs typeface="Arial"/>
                        </a:rPr>
                        <a:t>Proposed WER target</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Kazakh ≤25%; Russian ≤20%; mixed ≤30%</a:t>
                      </a:r>
                    </a:p>
                  </a:txBody>
                  <a:tcPr marL="91440" marR="91440" marT="45720" marB="45720">
                    <a:solidFill>
                      <a:srgbClr val="FFFFFF"/>
                    </a:solidFill>
                  </a:tcPr>
                </a:tc>
              </a:tr>
              <a:tr h="635000">
                <a:tc>
                  <a:txBody>
                    <a:bodyPr>
                      <a:noAutofit/>
                    </a:bodyPr>
                    <a:lstStyle/>
                    <a:p>
                      <a:r>
                        <a:rPr sz="1725" b="0">
                          <a:solidFill>
                            <a:srgbClr val="183D34"/>
                          </a:solidFill>
                          <a:latin typeface="Arial"/>
                          <a:ea typeface="Arial"/>
                          <a:cs typeface="Arial"/>
                        </a:rPr>
                        <a:t>Proposed minutes target</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Supported-item precision ≥95%; task-tuple F1 ≥0.80</a:t>
                      </a:r>
                    </a:p>
                  </a:txBody>
                  <a:tcPr marL="91440" marR="91440" marT="45720" marB="45720">
                    <a:solidFill>
                      <a:srgbClr val="EDF3E5"/>
                    </a:solidFill>
                  </a:tcPr>
                </a:tc>
              </a:tr>
              <a:tr h="635000">
                <a:tc>
                  <a:txBody>
                    <a:bodyPr>
                      <a:noAutofit/>
                    </a:bodyPr>
                    <a:lstStyle/>
                    <a:p>
                      <a:r>
                        <a:rPr sz="1725" b="0">
                          <a:solidFill>
                            <a:srgbClr val="183D34"/>
                          </a:solidFill>
                          <a:latin typeface="Arial"/>
                          <a:ea typeface="Arial"/>
                          <a:cs typeface="Arial"/>
                        </a:rPr>
                        <a:t>Performance evaluation</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Report latency and memory; set feasible gates after pilot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CCE3306-5FE1-42C2-A3C4-7513D70EDAEB}"/>
              </a:ext>
            </a:extLst>
          </p:cNvPr>
          <p:cNvSpPr>
            <a:spLocks xmlns:a="http://schemas.openxmlformats.org/drawingml/2006/main" noGrp="1"/>
          </p:cNvSpPr>
          <p:nvPr/>
        </p:nvSpPr>
        <p:spPr>
          <a:xfrm xmlns:a="http://schemas.openxmlformats.org/drawingml/2006/main">
            <a:off x="628650" y="57150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D7167"/>
                </a:solidFill>
                <a:latin typeface="Arial"/>
                <a:ea typeface="Arial"/>
                <a:cs typeface="Arial"/>
              </a:defRPr>
            </a:pPr>
            <a:r>
              <a:rPr sz="1800" b="0">
                <a:solidFill>
                  <a:srgbClr val="5D7167"/>
                </a:solidFill>
                <a:latin typeface="Arial"/>
                <a:ea typeface="Arial"/>
                <a:cs typeface="Arial"/>
              </a:rPr>
              <a:t>Working inference is demonstrated; reliable bilingual meeting quality is still to be established.</a:t>
            </a:r>
          </a:p>
        </p:txBody>
      </p:sp>
    </p:spTree>
    <p:extLst>
      <p:ext uri="{BB962C8B-B14F-4D97-AF65-F5344CB8AC3E}">
        <p14:creationId xmlns:p14="http://schemas.microsoft.com/office/powerpoint/2010/main" val="507593192"/>
      </p:ext>
    </p:extLst>
  </p:cSld>
</p:sld>
</file>

<file path=ppt/slides/slide19.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B90887-1945-4ADF-B804-18D37CB7CCCF}"/>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System checks and user evaluation</a:t>
            </a:r>
          </a:p>
        </p:txBody>
      </p:sp>
      <p:sp>
        <p:nvSpPr>
          <p:cNvPr id="2" name="">
            <a:extLst xmlns:a="http://schemas.openxmlformats.org/drawingml/2006/main">
              <a:ext uri="{FF2B5EF4-FFF2-40B4-BE49-F238E27FC236}">
                <a16:creationId xmlns:a16="http://schemas.microsoft.com/office/drawing/2014/main" id="{B1267472-5AB2-4D8C-9A00-E92FC152F17A}"/>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19</a:t>
            </a:r>
          </a:p>
        </p:txBody>
      </p:sp>
      <p:graphicFrame>
        <p:nvGraphicFramePr>
          <p:cNvPr id="9" name=""/>
          <p:cNvGraphicFramePr/>
          <p:nvPr/>
        </p:nvGraphicFramePr>
        <p:xfrm>
          <a:off xmlns:a="http://schemas.openxmlformats.org/drawingml/2006/main" x="609600" y="1476375"/>
          <a:ext xmlns:a="http://schemas.openxmlformats.org/drawingml/2006/main" cx="10972800" cy="3810000"/>
        </p:xfrm>
        <a:graphic xmlns:a="http://schemas.openxmlformats.org/drawingml/2006/main">
          <a:graphicData uri="http://schemas.openxmlformats.org/drawingml/2006/table">
            <a:tbl>
              <a:tblPr/>
              <a:tblGrid>
                <a:gridCol w="3429000"/>
                <a:gridCol w="7543800"/>
              </a:tblGrid>
              <a:tr h="635000">
                <a:tc>
                  <a:txBody>
                    <a:bodyPr>
                      <a:noAutofit/>
                    </a:bodyPr>
                    <a:lstStyle/>
                    <a:p>
                      <a:r>
                        <a:rPr sz="1725" b="1">
                          <a:solidFill>
                            <a:srgbClr val="FFFFFF"/>
                          </a:solidFill>
                          <a:latin typeface="Arial"/>
                          <a:ea typeface="Arial"/>
                          <a:cs typeface="Arial"/>
                        </a:rPr>
                        <a:t>Area</a:t>
                      </a:r>
                    </a:p>
                  </a:txBody>
                  <a:tcPr marL="91440" marR="91440" marT="45720" marB="45720">
                    <a:solidFill>
                      <a:srgbClr val="2B5F4C"/>
                    </a:solidFill>
                  </a:tcPr>
                </a:tc>
                <a:tc>
                  <a:txBody>
                    <a:bodyPr>
                      <a:noAutofit/>
                    </a:bodyPr>
                    <a:lstStyle/>
                    <a:p>
                      <a:r>
                        <a:rPr sz="1725" b="1">
                          <a:solidFill>
                            <a:srgbClr val="FFFFFF"/>
                          </a:solidFill>
                          <a:latin typeface="Arial"/>
                          <a:ea typeface="Arial"/>
                          <a:cs typeface="Arial"/>
                        </a:rPr>
                        <a:t>Status or planned verification</a:t>
                      </a:r>
                    </a:p>
                  </a:txBody>
                  <a:tcPr marL="91440" marR="91440" marT="45720" marB="45720">
                    <a:solidFill>
                      <a:srgbClr val="2B5F4C"/>
                    </a:solidFill>
                  </a:tcPr>
                </a:tc>
              </a:tr>
              <a:tr h="635000">
                <a:tc>
                  <a:txBody>
                    <a:bodyPr>
                      <a:noAutofit/>
                    </a:bodyPr>
                    <a:lstStyle/>
                    <a:p>
                      <a:r>
                        <a:rPr sz="1725" b="0">
                          <a:solidFill>
                            <a:srgbClr val="183D34"/>
                          </a:solidFill>
                          <a:latin typeface="Arial"/>
                          <a:ea typeface="Arial"/>
                          <a:cs typeface="Arial"/>
                        </a:rPr>
                        <a:t>Fresh check</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8 frontend domain tests passed</a:t>
                      </a:r>
                    </a:p>
                  </a:txBody>
                  <a:tcPr marL="91440" marR="91440" marT="45720" marB="45720">
                    <a:solidFill>
                      <a:srgbClr val="FFFFFF"/>
                    </a:solidFill>
                  </a:tcPr>
                </a:tc>
              </a:tr>
              <a:tr h="635000">
                <a:tc>
                  <a:txBody>
                    <a:bodyPr>
                      <a:noAutofit/>
                    </a:bodyPr>
                    <a:lstStyle/>
                    <a:p>
                      <a:r>
                        <a:rPr sz="1725" b="0">
                          <a:solidFill>
                            <a:srgbClr val="183D34"/>
                          </a:solidFill>
                          <a:latin typeface="Arial"/>
                          <a:ea typeface="Arial"/>
                          <a:cs typeface="Arial"/>
                        </a:rPr>
                        <a:t>Backend / full inference</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Not rerun successfully in this documentation environment</a:t>
                      </a:r>
                    </a:p>
                  </a:txBody>
                  <a:tcPr marL="91440" marR="91440" marT="45720" marB="45720">
                    <a:solidFill>
                      <a:srgbClr val="EDF3E5"/>
                    </a:solidFill>
                  </a:tcPr>
                </a:tc>
              </a:tr>
              <a:tr h="635000">
                <a:tc>
                  <a:txBody>
                    <a:bodyPr>
                      <a:noAutofit/>
                    </a:bodyPr>
                    <a:lstStyle/>
                    <a:p>
                      <a:r>
                        <a:rPr sz="1725" b="0">
                          <a:solidFill>
                            <a:srgbClr val="183D34"/>
                          </a:solidFill>
                          <a:latin typeface="Arial"/>
                          <a:ea typeface="Arial"/>
                          <a:cs typeface="Arial"/>
                        </a:rPr>
                        <a:t>Review and recovery</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Check stale saves, interrupted jobs, invalid output and deletion</a:t>
                      </a:r>
                    </a:p>
                  </a:txBody>
                  <a:tcPr marL="91440" marR="91440" marT="45720" marB="45720">
                    <a:solidFill>
                      <a:srgbClr val="FFFFFF"/>
                    </a:solidFill>
                  </a:tcPr>
                </a:tc>
              </a:tr>
              <a:tr h="635000">
                <a:tc>
                  <a:txBody>
                    <a:bodyPr>
                      <a:noAutofit/>
                    </a:bodyPr>
                    <a:lstStyle/>
                    <a:p>
                      <a:r>
                        <a:rPr sz="1725" b="0">
                          <a:solidFill>
                            <a:srgbClr val="183D34"/>
                          </a:solidFill>
                          <a:latin typeface="Arial"/>
                          <a:ea typeface="Arial"/>
                          <a:cs typeface="Arial"/>
                        </a:rPr>
                        <a:t>User benefit study</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6–8 users; matched recordings and counterbalanced order</a:t>
                      </a:r>
                    </a:p>
                  </a:txBody>
                  <a:tcPr marL="91440" marR="91440" marT="45720" marB="45720">
                    <a:solidFill>
                      <a:srgbClr val="EDF3E5"/>
                    </a:solidFill>
                  </a:tcPr>
                </a:tc>
              </a:tr>
              <a:tr h="635000">
                <a:tc>
                  <a:txBody>
                    <a:bodyPr>
                      <a:noAutofit/>
                    </a:bodyPr>
                    <a:lstStyle/>
                    <a:p>
                      <a:r>
                        <a:rPr sz="1725" b="0">
                          <a:solidFill>
                            <a:srgbClr val="183D34"/>
                          </a:solidFill>
                          <a:latin typeface="Arial"/>
                          <a:ea typeface="Arial"/>
                          <a:cs typeface="Arial"/>
                        </a:rPr>
                        <a:t>Proposed benefit</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≥80% task completion; ≥20% less active time without quality loss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5E40B67-E179-4868-8CA3-A4DEC60EA554}"/>
              </a:ext>
            </a:extLst>
          </p:cNvPr>
          <p:cNvSpPr>
            <a:spLocks xmlns:a="http://schemas.openxmlformats.org/drawingml/2006/main" noGrp="1"/>
          </p:cNvSpPr>
          <p:nvPr/>
        </p:nvSpPr>
        <p:spPr>
          <a:xfrm xmlns:a="http://schemas.openxmlformats.org/drawingml/2006/main">
            <a:off x="628650" y="57626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D7167"/>
                </a:solidFill>
                <a:latin typeface="Arial"/>
                <a:ea typeface="Arial"/>
                <a:cs typeface="Arial"/>
              </a:defRPr>
            </a:pPr>
            <a:r>
              <a:rPr sz="1800" b="0">
                <a:solidFill>
                  <a:srgbClr val="5D7167"/>
                </a:solidFill>
                <a:latin typeface="Arial"/>
                <a:ea typeface="Arial"/>
                <a:cs typeface="Arial"/>
              </a:rPr>
              <a:t>Separate application correctness, model accuracy and user benefit in the final evaluation.</a:t>
            </a:r>
          </a:p>
        </p:txBody>
      </p:sp>
    </p:spTree>
    <p:extLst>
      <p:ext uri="{BB962C8B-B14F-4D97-AF65-F5344CB8AC3E}">
        <p14:creationId xmlns:p14="http://schemas.microsoft.com/office/powerpoint/2010/main" val="1531146603"/>
      </p:ext>
    </p:extLst>
  </p:cSld>
</p:sld>
</file>

<file path=ppt/slides/slide20.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3B0DEA-763D-4A5D-8DD7-0A2E16B51A0D}"/>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Team ownership and milestones</a:t>
            </a:r>
          </a:p>
        </p:txBody>
      </p:sp>
      <p:sp>
        <p:nvSpPr>
          <p:cNvPr id="2" name="">
            <a:extLst xmlns:a="http://schemas.openxmlformats.org/drawingml/2006/main">
              <a:ext uri="{FF2B5EF4-FFF2-40B4-BE49-F238E27FC236}">
                <a16:creationId xmlns:a16="http://schemas.microsoft.com/office/drawing/2014/main" id="{96A47568-5E77-40D9-ABEA-B9E716EB3C6E}"/>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20</a:t>
            </a:r>
          </a:p>
        </p:txBody>
      </p:sp>
      <p:graphicFrame>
        <p:nvGraphicFramePr>
          <p:cNvPr id="9" name=""/>
          <p:cNvGraphicFramePr/>
          <p:nvPr/>
        </p:nvGraphicFramePr>
        <p:xfrm>
          <a:off xmlns:a="http://schemas.openxmlformats.org/drawingml/2006/main" x="609600" y="1476375"/>
          <a:ext xmlns:a="http://schemas.openxmlformats.org/drawingml/2006/main" cx="10972800" cy="2571750"/>
        </p:xfrm>
        <a:graphic xmlns:a="http://schemas.openxmlformats.org/drawingml/2006/main">
          <a:graphicData uri="http://schemas.openxmlformats.org/drawingml/2006/table">
            <a:tbl>
              <a:tblPr/>
              <a:tblGrid>
                <a:gridCol w="3524250"/>
                <a:gridCol w="7448550"/>
              </a:tblGrid>
              <a:tr h="642938">
                <a:tc>
                  <a:txBody>
                    <a:bodyPr>
                      <a:noAutofit/>
                    </a:bodyPr>
                    <a:lstStyle/>
                    <a:p>
                      <a:r>
                        <a:rPr sz="1800" b="1">
                          <a:solidFill>
                            <a:srgbClr val="FFFFFF"/>
                          </a:solidFill>
                          <a:latin typeface="Arial"/>
                          <a:ea typeface="Arial"/>
                          <a:cs typeface="Arial"/>
                        </a:rPr>
                        <a:t>Member</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Main responsibility</a:t>
                      </a:r>
                    </a:p>
                  </a:txBody>
                  <a:tcPr marL="91440" marR="91440" marT="45720" marB="45720">
                    <a:solidFill>
                      <a:srgbClr val="2B5F4C"/>
                    </a:solidFill>
                  </a:tcPr>
                </a:tc>
              </a:tr>
              <a:tr h="642938">
                <a:tc>
                  <a:txBody>
                    <a:bodyPr>
                      <a:noAutofit/>
                    </a:bodyPr>
                    <a:lstStyle/>
                    <a:p>
                      <a:r>
                        <a:rPr sz="1800" b="0">
                          <a:solidFill>
                            <a:srgbClr val="183D34"/>
                          </a:solidFill>
                          <a:latin typeface="Arial"/>
                          <a:ea typeface="Arial"/>
                          <a:cs typeface="Arial"/>
                        </a:rPr>
                        <a:t>Akhmetov Kazbek</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React UI, API integration, saved review and DOCX workflow</a:t>
                      </a:r>
                    </a:p>
                  </a:txBody>
                  <a:tcPr marL="91440" marR="91440" marT="45720" marB="45720">
                    <a:solidFill>
                      <a:srgbClr val="FFFFFF"/>
                    </a:solidFill>
                  </a:tcPr>
                </a:tc>
              </a:tr>
              <a:tr h="642938">
                <a:tc>
                  <a:txBody>
                    <a:bodyPr>
                      <a:noAutofit/>
                    </a:bodyPr>
                    <a:lstStyle/>
                    <a:p>
                      <a:r>
                        <a:rPr sz="1800" b="0">
                          <a:solidFill>
                            <a:srgbClr val="183D34"/>
                          </a:solidFill>
                          <a:latin typeface="Arial"/>
                          <a:ea typeface="Arial"/>
                          <a:cs typeface="Arial"/>
                        </a:rPr>
                        <a:t>Uranov Daryn</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Speech/model pipeline, data annotation and model evaluation</a:t>
                      </a:r>
                    </a:p>
                  </a:txBody>
                  <a:tcPr marL="91440" marR="91440" marT="45720" marB="45720">
                    <a:solidFill>
                      <a:srgbClr val="EDF3E5"/>
                    </a:solidFill>
                  </a:tcPr>
                </a:tc>
              </a:tr>
              <a:tr h="642938">
                <a:tc>
                  <a:txBody>
                    <a:bodyPr>
                      <a:noAutofit/>
                    </a:bodyPr>
                    <a:lstStyle/>
                    <a:p>
                      <a:r>
                        <a:rPr sz="1800" b="0">
                          <a:solidFill>
                            <a:srgbClr val="183D34"/>
                          </a:solidFill>
                          <a:latin typeface="Arial"/>
                          <a:ea typeface="Arial"/>
                          <a:cs typeface="Arial"/>
                        </a:rPr>
                        <a:t>Tazhibayev Marsel</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Scope, coordination, acceptance checks and release review</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E460E0B-EECF-4A6D-823B-2927B3551D85}"/>
              </a:ext>
            </a:extLst>
          </p:cNvPr>
          <p:cNvSpPr>
            <a:spLocks xmlns:a="http://schemas.openxmlformats.org/drawingml/2006/main" noGrp="1"/>
          </p:cNvSpPr>
          <p:nvPr/>
        </p:nvSpPr>
        <p:spPr>
          <a:xfrm xmlns:a="http://schemas.openxmlformats.org/drawingml/2006/main">
            <a:off x="628650" y="4524375"/>
            <a:ext cx="1081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D34"/>
                </a:solidFill>
                <a:latin typeface="Arial"/>
                <a:ea typeface="Arial"/>
                <a:cs typeface="Arial"/>
              </a:defRPr>
            </a:pPr>
            <a:r>
              <a:rPr sz="2025" b="0">
                <a:solidFill>
                  <a:srgbClr val="183D34"/>
                </a:solidFill>
                <a:latin typeface="Arial"/>
                <a:ea typeface="Arial"/>
                <a:cs typeface="Arial"/>
              </a:rPr>
              <a:t>24 October: reviewed analysis and design package</a:t>
            </a:r>
          </a:p>
          <a:p xmlns:a="http://schemas.openxmlformats.org/drawingml/2006/main">
            <a:pPr>
              <a:buNone/>
              <a:defRPr sz="2025" b="0">
                <a:solidFill>
                  <a:srgbClr val="183D34"/>
                </a:solidFill>
                <a:latin typeface="Arial"/>
                <a:ea typeface="Arial"/>
                <a:cs typeface="Arial"/>
              </a:defRPr>
            </a:pPr>
            <a:r>
              <a:rPr sz="2025" b="0">
                <a:solidFill>
                  <a:srgbClr val="183D34"/>
                </a:solidFill>
                <a:latin typeface="Arial"/>
                <a:ea typeface="Arial"/>
                <a:cs typeface="Arial"/>
              </a:rPr>
              <a:t>6 November: user evidence, dataset permissions and feasibility checks</a:t>
            </a:r>
          </a:p>
          <a:p xmlns:a="http://schemas.openxmlformats.org/drawingml/2006/main">
            <a:pPr>
              <a:buNone/>
              <a:defRPr sz="2025" b="0">
                <a:solidFill>
                  <a:srgbClr val="183D34"/>
                </a:solidFill>
                <a:latin typeface="Arial"/>
                <a:ea typeface="Arial"/>
                <a:cs typeface="Arial"/>
              </a:defRPr>
            </a:pPr>
            <a:r>
              <a:rPr sz="2025" b="0">
                <a:solidFill>
                  <a:srgbClr val="183D34"/>
                </a:solidFill>
                <a:latin typeface="Arial"/>
                <a:ea typeface="Arial"/>
                <a:cs typeface="Arial"/>
              </a:rPr>
              <a:t>Next stages: controlled evaluation and a scoped live-capture extension</a:t>
            </a:r>
          </a:p>
        </p:txBody>
      </p:sp>
    </p:spTree>
    <p:extLst>
      <p:ext uri="{BB962C8B-B14F-4D97-AF65-F5344CB8AC3E}">
        <p14:creationId xmlns:p14="http://schemas.microsoft.com/office/powerpoint/2010/main" val="1216458522"/>
      </p:ext>
    </p:extLst>
  </p:cSld>
</p:sld>
</file>

<file path=ppt/slides/slide21.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F86C9CE-ABCF-4C9A-9986-2046E59FBDB6}"/>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Risks and practical controls</a:t>
            </a:r>
          </a:p>
        </p:txBody>
      </p:sp>
      <p:sp>
        <p:nvSpPr>
          <p:cNvPr id="2" name="">
            <a:extLst xmlns:a="http://schemas.openxmlformats.org/drawingml/2006/main">
              <a:ext uri="{FF2B5EF4-FFF2-40B4-BE49-F238E27FC236}">
                <a16:creationId xmlns:a16="http://schemas.microsoft.com/office/drawing/2014/main" id="{DDA331D8-2F7D-423E-AD52-855582314A0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21</a:t>
            </a:r>
          </a:p>
        </p:txBody>
      </p:sp>
      <p:graphicFrame>
        <p:nvGraphicFramePr>
          <p:cNvPr id="8" name=""/>
          <p:cNvGraphicFramePr/>
          <p:nvPr/>
        </p:nvGraphicFramePr>
        <p:xfrm>
          <a:off xmlns:a="http://schemas.openxmlformats.org/drawingml/2006/main" x="609600" y="1476375"/>
          <a:ext xmlns:a="http://schemas.openxmlformats.org/drawingml/2006/main" cx="10972800" cy="3952875"/>
        </p:xfrm>
        <a:graphic xmlns:a="http://schemas.openxmlformats.org/drawingml/2006/main">
          <a:graphicData uri="http://schemas.openxmlformats.org/drawingml/2006/table">
            <a:tbl>
              <a:tblPr/>
              <a:tblGrid>
                <a:gridCol w="4286250"/>
                <a:gridCol w="6686550"/>
              </a:tblGrid>
              <a:tr h="658813">
                <a:tc>
                  <a:txBody>
                    <a:bodyPr>
                      <a:noAutofit/>
                    </a:bodyPr>
                    <a:lstStyle/>
                    <a:p>
                      <a:r>
                        <a:rPr sz="1800" b="1">
                          <a:solidFill>
                            <a:srgbClr val="FFFFFF"/>
                          </a:solidFill>
                          <a:latin typeface="Arial"/>
                          <a:ea typeface="Arial"/>
                          <a:cs typeface="Arial"/>
                        </a:rPr>
                        <a:t>Risk</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Response</a:t>
                      </a:r>
                    </a:p>
                  </a:txBody>
                  <a:tcPr marL="91440" marR="91440" marT="45720" marB="45720">
                    <a:solidFill>
                      <a:srgbClr val="2B5F4C"/>
                    </a:solidFill>
                  </a:tcPr>
                </a:tc>
              </a:tr>
              <a:tr h="658813">
                <a:tc>
                  <a:txBody>
                    <a:bodyPr>
                      <a:noAutofit/>
                    </a:bodyPr>
                    <a:lstStyle/>
                    <a:p>
                      <a:r>
                        <a:rPr sz="1800" b="0">
                          <a:solidFill>
                            <a:srgbClr val="183D34"/>
                          </a:solidFill>
                          <a:latin typeface="Arial"/>
                          <a:ea typeface="Arial"/>
                          <a:cs typeface="Arial"/>
                        </a:rPr>
                        <a:t>Kazakh / mixed speech errors</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Annotate language strata and inspect task source evidence</a:t>
                      </a:r>
                    </a:p>
                  </a:txBody>
                  <a:tcPr marL="91440" marR="91440" marT="45720" marB="45720">
                    <a:solidFill>
                      <a:srgbClr val="FFFFFF"/>
                    </a:solidFill>
                  </a:tcPr>
                </a:tc>
              </a:tr>
              <a:tr h="658813">
                <a:tc>
                  <a:txBody>
                    <a:bodyPr>
                      <a:noAutofit/>
                    </a:bodyPr>
                    <a:lstStyle/>
                    <a:p>
                      <a:r>
                        <a:rPr sz="1800" b="0">
                          <a:solidFill>
                            <a:srgbClr val="183D34"/>
                          </a:solidFill>
                          <a:latin typeface="Arial"/>
                          <a:ea typeface="Arial"/>
                          <a:cs typeface="Arial"/>
                        </a:rPr>
                        <a:t>Invented or omitted commitments</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Review owners, deadlines, omissions and source support</a:t>
                      </a:r>
                    </a:p>
                  </a:txBody>
                  <a:tcPr marL="91440" marR="91440" marT="45720" marB="45720">
                    <a:solidFill>
                      <a:srgbClr val="EDF3E5"/>
                    </a:solidFill>
                  </a:tcPr>
                </a:tc>
              </a:tr>
              <a:tr h="658813">
                <a:tc>
                  <a:txBody>
                    <a:bodyPr>
                      <a:noAutofit/>
                    </a:bodyPr>
                    <a:lstStyle/>
                    <a:p>
                      <a:r>
                        <a:rPr sz="1800" b="0">
                          <a:solidFill>
                            <a:srgbClr val="183D34"/>
                          </a:solidFill>
                          <a:latin typeface="Arial"/>
                          <a:ea typeface="Arial"/>
                          <a:cs typeface="Arial"/>
                        </a:rPr>
                        <a:t>Context or memory limits</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Measure real runtime limits; test long inputs and alternatives</a:t>
                      </a:r>
                    </a:p>
                  </a:txBody>
                  <a:tcPr marL="91440" marR="91440" marT="45720" marB="45720">
                    <a:solidFill>
                      <a:srgbClr val="FFFFFF"/>
                    </a:solidFill>
                  </a:tcPr>
                </a:tc>
              </a:tr>
              <a:tr h="658813">
                <a:tc>
                  <a:txBody>
                    <a:bodyPr>
                      <a:noAutofit/>
                    </a:bodyPr>
                    <a:lstStyle/>
                    <a:p>
                      <a:r>
                        <a:rPr sz="1800" b="0">
                          <a:solidFill>
                            <a:srgbClr val="183D34"/>
                          </a:solidFill>
                          <a:latin typeface="Arial"/>
                          <a:ea typeface="Arial"/>
                          <a:cs typeface="Arial"/>
                        </a:rPr>
                        <a:t>Local app exposed as shared service</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Keep local scope; design access controls before deployment</a:t>
                      </a:r>
                    </a:p>
                  </a:txBody>
                  <a:tcPr marL="91440" marR="91440" marT="45720" marB="45720">
                    <a:solidFill>
                      <a:srgbClr val="EDF3E5"/>
                    </a:solidFill>
                  </a:tcPr>
                </a:tc>
              </a:tr>
              <a:tr h="658813">
                <a:tc>
                  <a:txBody>
                    <a:bodyPr>
                      <a:noAutofit/>
                    </a:bodyPr>
                    <a:lstStyle/>
                    <a:p>
                      <a:r>
                        <a:rPr sz="1800" b="0">
                          <a:solidFill>
                            <a:srgbClr val="183D34"/>
                          </a:solidFill>
                          <a:latin typeface="Arial"/>
                          <a:ea typeface="Arial"/>
                          <a:cs typeface="Arial"/>
                        </a:rPr>
                        <a:t>Incomplete academic evidence</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Confirm supervisor review, task mapping and user findings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57794737"/>
      </p:ext>
    </p:extLst>
  </p:cSld>
</p:sld>
</file>

<file path=ppt/slides/slide22.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D9EB9C-82E2-4A91-A7CC-C19728DF5FCE}"/>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83D34"/>
                </a:solidFill>
                <a:latin typeface="Arial"/>
                <a:ea typeface="Arial"/>
                <a:cs typeface="Arial"/>
              </a:defRPr>
            </a:pPr>
            <a:r>
              <a:rPr sz="3150" b="1">
                <a:solidFill>
                  <a:srgbClr val="183D34"/>
                </a:solidFill>
                <a:latin typeface="Arial"/>
                <a:ea typeface="Arial"/>
                <a:cs typeface="Arial"/>
              </a:rPr>
              <a:t>Repository and remaining actions</a:t>
            </a:r>
          </a:p>
        </p:txBody>
      </p:sp>
      <p:sp>
        <p:nvSpPr>
          <p:cNvPr id="2" name="">
            <a:extLst xmlns:a="http://schemas.openxmlformats.org/drawingml/2006/main">
              <a:ext uri="{FF2B5EF4-FFF2-40B4-BE49-F238E27FC236}">
                <a16:creationId xmlns:a16="http://schemas.microsoft.com/office/drawing/2014/main" id="{918B06CB-E83F-48EF-91A0-CCBC6DEC71F6}"/>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D7167"/>
                </a:solidFill>
                <a:latin typeface="Arial"/>
                <a:ea typeface="Arial"/>
                <a:cs typeface="Arial"/>
              </a:defRPr>
            </a:pPr>
            <a:r>
              <a:rPr sz="1125" b="0">
                <a:solidFill>
                  <a:srgbClr val="5D7167"/>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47AB4210-2C94-45E8-8FC8-DC1CD61FB99D}"/>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Prepared package</a:t>
            </a:r>
          </a:p>
        </p:txBody>
      </p:sp>
      <p:sp>
        <p:nvSpPr>
          <p:cNvPr id="4" name="">
            <a:extLst xmlns:a="http://schemas.openxmlformats.org/drawingml/2006/main">
              <a:ext uri="{FF2B5EF4-FFF2-40B4-BE49-F238E27FC236}">
                <a16:creationId xmlns:a16="http://schemas.microsoft.com/office/drawing/2014/main" id="{32BA12EF-2FFA-4986-A248-45255540457B}"/>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Updated English report and slides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Research and model comparisons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Requirements and actual architecture</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Working-application demo guide</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33 planning tasks and verification plan</a:t>
            </a:r>
          </a:p>
        </p:txBody>
      </p:sp>
      <p:sp>
        <p:nvSpPr>
          <p:cNvPr id="5" name="">
            <a:extLst xmlns:a="http://schemas.openxmlformats.org/drawingml/2006/main">
              <a:ext uri="{FF2B5EF4-FFF2-40B4-BE49-F238E27FC236}">
                <a16:creationId xmlns:a16="http://schemas.microsoft.com/office/drawing/2014/main" id="{C8CD6ED5-EAEF-4B16-8429-57BD863FD98A}"/>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3D34"/>
                </a:solidFill>
                <a:latin typeface="Arial"/>
                <a:ea typeface="Arial"/>
                <a:cs typeface="Arial"/>
              </a:defRPr>
            </a:pPr>
            <a:r>
              <a:rPr sz="2250" b="1">
                <a:solidFill>
                  <a:srgbClr val="183D34"/>
                </a:solidFill>
                <a:latin typeface="Arial"/>
                <a:ea typeface="Arial"/>
                <a:cs typeface="Arial"/>
              </a:rPr>
              <a:t>Team actions</a:t>
            </a:r>
          </a:p>
        </p:txBody>
      </p:sp>
      <p:sp>
        <p:nvSpPr>
          <p:cNvPr id="6" name="">
            <a:extLst xmlns:a="http://schemas.openxmlformats.org/drawingml/2006/main">
              <a:ext uri="{FF2B5EF4-FFF2-40B4-BE49-F238E27FC236}">
                <a16:creationId xmlns:a16="http://schemas.microsoft.com/office/drawing/2014/main" id="{B790BEF5-9BF9-4151-848E-586881556BF5}"/>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Review and merge the documentation PR</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Provide YouTrack access and map tasks</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Confirm substantive supervisor feedback</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Collect user evidence or approved substitute</a:t>
            </a:r>
          </a:p>
          <a:p xmlns:a="http://schemas.openxmlformats.org/drawingml/2006/main">
            <a:pPr>
              <a:buNone/>
              <a:defRPr sz="2100" b="0">
                <a:solidFill>
                  <a:srgbClr val="183D34"/>
                </a:solidFill>
                <a:latin typeface="Arial"/>
                <a:ea typeface="Arial"/>
                <a:cs typeface="Arial"/>
              </a:defRPr>
            </a:pPr>
            <a:r>
              <a:rPr sz="2100" b="0">
                <a:solidFill>
                  <a:srgbClr val="183D34"/>
                </a:solidFill>
                <a:latin typeface="Arial"/>
                <a:ea typeface="Arial"/>
                <a:cs typeface="Arial"/>
              </a:rPr>
              <a:t>Verify demo and tag the reviewed submission</a:t>
            </a:r>
          </a:p>
        </p:txBody>
      </p:sp>
      <p:sp>
        <p:nvSpPr>
          <p:cNvPr id="7" name="">
            <a:extLst xmlns:a="http://schemas.openxmlformats.org/drawingml/2006/main">
              <a:ext uri="{FF2B5EF4-FFF2-40B4-BE49-F238E27FC236}">
                <a16:creationId xmlns:a16="http://schemas.microsoft.com/office/drawing/2014/main" id="{D3CF05F4-EEFC-493B-9D90-40A833DB2E39}"/>
              </a:ext>
            </a:extLst>
          </p:cNvPr>
          <p:cNvSpPr>
            <a:spLocks xmlns:a="http://schemas.openxmlformats.org/drawingml/2006/main" noGrp="1"/>
          </p:cNvSpPr>
          <p:nvPr/>
        </p:nvSpPr>
        <p:spPr>
          <a:xfrm xmlns:a="http://schemas.openxmlformats.org/drawingml/2006/main">
            <a:off x="628650" y="586740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83D34"/>
                </a:solidFill>
                <a:latin typeface="Arial"/>
                <a:ea typeface="Arial"/>
                <a:cs typeface="Arial"/>
              </a:defRPr>
            </a:pPr>
            <a:r>
              <a:rPr sz="1725" b="1">
                <a:solidFill>
                  <a:srgbClr val="183D34"/>
                </a:solidFill>
                <a:latin typeface="Arial"/>
                <a:ea typeface="Arial"/>
                <a:cs typeface="Arial"/>
              </a:rPr>
              <a:t>f0nce/hattama · Supervisor: Elvira Aitmukhambetovna</a:t>
            </a:r>
          </a:p>
        </p:txBody>
      </p:sp>
    </p:spTree>
    <p:extLst>
      <p:ext uri="{BB962C8B-B14F-4D97-AF65-F5344CB8AC3E}">
        <p14:creationId xmlns:p14="http://schemas.microsoft.com/office/powerpoint/2010/main" val="1887881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2026-10-23T19:08:16.5530000Z</dcterms:created>
  <dcterms:modified xsi:type="dcterms:W3CDTF">2026-10-23T19:08:16.5530000Z</dcterms:modified>
</coreProperties>
</file>